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8" r:id="rId2"/>
    <p:sldId id="276" r:id="rId3"/>
    <p:sldId id="257" r:id="rId4"/>
    <p:sldId id="258" r:id="rId5"/>
    <p:sldId id="259" r:id="rId6"/>
    <p:sldId id="260" r:id="rId7"/>
    <p:sldId id="261" r:id="rId8"/>
    <p:sldId id="283" r:id="rId9"/>
    <p:sldId id="284" r:id="rId10"/>
    <p:sldId id="262" r:id="rId11"/>
    <p:sldId id="263" r:id="rId12"/>
    <p:sldId id="265" r:id="rId13"/>
    <p:sldId id="266" r:id="rId14"/>
    <p:sldId id="267" r:id="rId15"/>
    <p:sldId id="268" r:id="rId16"/>
    <p:sldId id="281" r:id="rId17"/>
    <p:sldId id="282" r:id="rId18"/>
    <p:sldId id="269" r:id="rId19"/>
    <p:sldId id="274" r:id="rId20"/>
    <p:sldId id="270" r:id="rId21"/>
    <p:sldId id="277" r:id="rId22"/>
    <p:sldId id="279" r:id="rId23"/>
    <p:sldId id="280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ya sri" userId="1b964bf4ab6b1bd3" providerId="LiveId" clId="{CEB22287-DA73-4B66-87C2-45D1B88644AE}"/>
    <pc:docChg chg="modSld">
      <pc:chgData name="navya sri" userId="1b964bf4ab6b1bd3" providerId="LiveId" clId="{CEB22287-DA73-4B66-87C2-45D1B88644AE}" dt="2026-09-29T02:50:24.117" v="14" actId="20577"/>
      <pc:docMkLst>
        <pc:docMk/>
      </pc:docMkLst>
      <pc:sldChg chg="modSp mod">
        <pc:chgData name="navya sri" userId="1b964bf4ab6b1bd3" providerId="LiveId" clId="{CEB22287-DA73-4B66-87C2-45D1B88644AE}" dt="2026-09-29T02:50:24.117" v="14" actId="20577"/>
        <pc:sldMkLst>
          <pc:docMk/>
          <pc:sldMk cId="2554764655" sldId="266"/>
        </pc:sldMkLst>
        <pc:graphicFrameChg chg="modGraphic">
          <ac:chgData name="navya sri" userId="1b964bf4ab6b1bd3" providerId="LiveId" clId="{CEB22287-DA73-4B66-87C2-45D1B88644AE}" dt="2026-09-29T02:50:24.117" v="14" actId="20577"/>
          <ac:graphicFrameMkLst>
            <pc:docMk/>
            <pc:sldMk cId="2554764655" sldId="266"/>
            <ac:graphicFrameMk id="7" creationId="{3C3B11AB-9656-C570-57AA-1A3EF2A71B7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DA986-9C64-4F54-970C-EB3B1B811EF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70F3C7-6C7A-44CB-8A86-08A30DBCF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69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5ED65-8D38-8F7E-996A-74AFCF592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98F75-A2AB-46F9-E3DA-88D00A5D1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448B9-7C6F-CC37-FAD3-3A57BE23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EA73-D146-4270-A166-1B5B43CDD9B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149C9-B692-6DE0-22BC-C6F6A565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DE4CE-BA23-DAB6-95E4-09F9CC97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4B42-F9D8-4EF5-9FCB-B5E20B3AB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7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111C-E476-0D62-43F6-A81E558C1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CDEA9-F317-2C1D-5957-C9F2862FA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152A4-9B52-64A0-5C6A-FEBD24A3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EA73-D146-4270-A166-1B5B43CDD9B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8701B-907F-6B3B-10E6-329C052A6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71DD0-B082-8263-6396-9EBB892C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4B42-F9D8-4EF5-9FCB-B5E20B3AB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947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2B8A4-B835-2EEC-FD74-77E3517F0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2BB48-369C-39AF-B1CE-9957F3370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0900A-ADB6-91F3-D1FA-B84A9035D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EA73-D146-4270-A166-1B5B43CDD9B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3AB91-3587-F5F1-1727-25F148565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CE15C-6362-8A1C-ABA7-08CF2A6F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4B42-F9D8-4EF5-9FCB-B5E20B3AB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38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9720-D19F-4BE9-C29D-C91CC4CC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0D34C-BC91-12F5-3AFB-2AD393F1C4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90E96-2386-6AED-C929-56CFA54EB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CBCF3-C8BD-5D19-7824-EDCDC543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EA73-D146-4270-A166-1B5B43CDD9B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10A16-DD6B-4FEA-BA00-60370660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C30C1-CB5D-D2B0-647B-4892895E4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4B42-F9D8-4EF5-9FCB-B5E20B3AB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612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EF2F7-79D9-F684-BB67-23BE33C93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9D207-E21F-80FB-2747-8AE371750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D3761-1777-4599-5585-B1F6E42DC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AD99F2-71E1-D521-4716-A5548FC59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33D0A-8BCA-1B56-CAFB-5386A54A4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FACA7-F215-2DCD-1A85-961C777C1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EA73-D146-4270-A166-1B5B43CDD9B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67942B-DF8D-C2BD-5D11-5E6B22C8B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31EF34-833C-99BD-DA45-6A78E05E2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4B42-F9D8-4EF5-9FCB-B5E20B3AB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31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68B2-0A7C-2876-5FCB-3E93A06A7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8367A2-305C-EECC-E2A5-B7D66F94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EA73-D146-4270-A166-1B5B43CDD9B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7F505-2F3A-22FA-96A6-CAECB98FC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0251F-AD30-50D7-A8E3-57243D981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4B42-F9D8-4EF5-9FCB-B5E20B3AB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306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8E024-4FD3-599D-7467-D52776DF0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EA73-D146-4270-A166-1B5B43CDD9B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A81A2F-CCA0-410F-919D-BE90269D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4A651-FF0C-9D0D-D369-A5B14A0B3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4B42-F9D8-4EF5-9FCB-B5E20B3AB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890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2E90-6D31-622F-387D-CD8BDB8AD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4C798-E897-EAED-069C-D4430842C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5EDEC-CA4F-7615-162E-755092F9C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8AE3B-3F39-73F3-DA23-6B4FAF28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EA73-D146-4270-A166-1B5B43CDD9B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169B6-620B-F920-EFA7-32E8F8C83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01CC8-F516-69ED-1EAE-4C0CCC50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4B42-F9D8-4EF5-9FCB-B5E20B3AB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637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99FB2-1E23-9DDC-3424-B5D9D2C1A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6D356-978D-DFCE-5846-89F820097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37536-FD93-2909-9A8D-E2177845C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1D5AC-9B59-7851-2C14-AA41DAC7D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EA73-D146-4270-A166-1B5B43CDD9B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1F065-4FF1-6A5A-8CC9-36DED9C8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E4C1C-5A7B-80FD-2AD9-7A9A2A70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4B42-F9D8-4EF5-9FCB-B5E20B3AB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15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2B9B-E663-C558-135F-A9AD39090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C9EBB-1B97-2D4F-8979-01819BC26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5C011-09BF-6C4C-AF2B-F476EA972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EA73-D146-4270-A166-1B5B43CDD9B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90492-4F09-5E9C-EB69-FA6A54E5B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D3EBC-9C45-84F3-7F84-D6F9D704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4B42-F9D8-4EF5-9FCB-B5E20B3AB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447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EB0667-7E45-6657-4939-424B9085BA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337FB-8A42-0CBA-B50A-32F2DD8CD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0A8EC-3F15-9A97-773C-21A6263E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EA73-D146-4270-A166-1B5B43CDD9B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E3EC9-5489-BBDA-5119-F0BD188FB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43B5B-73B8-C63F-600B-EBF62D07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64B42-F9D8-4EF5-9FCB-B5E20B3AB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132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33AAC3-4FF2-758B-B611-D5D258F61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C71EA-5A68-2C79-3EAF-F3FD445BA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DEB3A-1DB6-70E0-F603-8CE2864A0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0EA73-D146-4270-A166-1B5B43CDD9B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D9334-1A63-27E8-5A6E-F915E209B2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CE553-A5EB-8A7A-18FF-F774DAFD9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64B42-F9D8-4EF5-9FCB-B5E20B3AB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63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shika1527-stack/Library-management-system-dbms..git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F3E340F-7A81-3AC5-38B2-E98B07A1736D}"/>
              </a:ext>
            </a:extLst>
          </p:cNvPr>
          <p:cNvSpPr txBox="1"/>
          <p:nvPr/>
        </p:nvSpPr>
        <p:spPr>
          <a:xfrm>
            <a:off x="751071" y="5147647"/>
            <a:ext cx="11250223" cy="169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90000"/>
              </a:lnSpc>
              <a:spcBef>
                <a:spcPct val="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</a:p>
          <a:p>
            <a:pPr marL="285750" indent="-285750" algn="ctr">
              <a:lnSpc>
                <a:spcPct val="90000"/>
              </a:lnSpc>
              <a:spcBef>
                <a:spcPct val="0"/>
              </a:spcBef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ctr">
              <a:lnSpc>
                <a:spcPct val="90000"/>
              </a:lnSpc>
              <a:spcBef>
                <a:spcPct val="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G.L.NARASAMBA.V</a:t>
            </a:r>
          </a:p>
          <a:p>
            <a:pPr marL="285750" lvl="0" indent="-285750" algn="ctr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endParaRPr lang="en-IN" dirty="0"/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D77A1866-0EC8-A4BA-6B1B-EE21C89A80A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0832" y="205326"/>
            <a:ext cx="4310336" cy="740092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8CED5A68-ADB7-60BA-9000-4BBA69ACFD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8383" y="588102"/>
            <a:ext cx="10515600" cy="132556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F8E9287-11DB-B2EC-E9BD-F7948B4EF68E}"/>
              </a:ext>
            </a:extLst>
          </p:cNvPr>
          <p:cNvSpPr txBox="1">
            <a:spLocks/>
          </p:cNvSpPr>
          <p:nvPr/>
        </p:nvSpPr>
        <p:spPr>
          <a:xfrm>
            <a:off x="1720293" y="2031558"/>
            <a:ext cx="8751412" cy="415113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dirty="0"/>
              <a:t>LIBRARY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US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T.RISHIKA(25B11AID25)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V.DEEPIKA (25B11AIC44)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U.DHARANI(25B11AIC23)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M.CHANDRA SEKHAR REDDY(25B11AID28)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US" sz="18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8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Artificial Intelligence &amp; Machine Learning</a:t>
            </a:r>
            <a:endParaRPr lang="en-US" sz="18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US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US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US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511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010CD-FE1C-67A9-89DA-0368E84F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285" y="152401"/>
            <a:ext cx="8847667" cy="1325563"/>
          </a:xfrm>
        </p:spPr>
        <p:txBody>
          <a:bodyPr>
            <a:normAutofit/>
          </a:bodyPr>
          <a:lstStyle/>
          <a:p>
            <a:r>
              <a:rPr lang="en-US" sz="4000" dirty="0"/>
              <a:t>PRESENTATION OUTLINE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8B2ED-6CF9-2263-F215-F6454104CE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2000" dirty="0"/>
          </a:p>
          <a:p>
            <a:pPr marL="0" lvl="0" indent="0">
              <a:buNone/>
            </a:pPr>
            <a:r>
              <a:rPr lang="en-IN" sz="2000" dirty="0"/>
              <a:t>1.Abstract</a:t>
            </a:r>
          </a:p>
          <a:p>
            <a:pPr marL="0" lvl="0" indent="0">
              <a:buNone/>
            </a:pPr>
            <a:r>
              <a:rPr lang="en-IN" sz="2000" dirty="0"/>
              <a:t>2.Finalize title, objectives &amp; problem statement</a:t>
            </a:r>
          </a:p>
          <a:p>
            <a:pPr marL="0" lvl="0" indent="0">
              <a:buNone/>
            </a:pPr>
            <a:r>
              <a:rPr lang="en-IN" sz="2000" dirty="0"/>
              <a:t>3.Identify entities &amp; attributes</a:t>
            </a:r>
          </a:p>
          <a:p>
            <a:pPr marL="0" lvl="0" indent="0">
              <a:buNone/>
            </a:pPr>
            <a:r>
              <a:rPr lang="en-IN" sz="2000" dirty="0"/>
              <a:t>2.Design ER diagram &amp; relationships</a:t>
            </a:r>
          </a:p>
          <a:p>
            <a:pPr marL="0" lvl="0" indent="0">
              <a:buNone/>
            </a:pPr>
            <a:r>
              <a:rPr lang="en-IN" sz="2000" dirty="0"/>
              <a:t>5.Prepare relational database schema</a:t>
            </a:r>
          </a:p>
          <a:p>
            <a:pPr marL="0" lvl="0" indent="0">
              <a:buNone/>
            </a:pPr>
            <a:r>
              <a:rPr lang="en-IN" sz="2000" dirty="0"/>
              <a:t>6.Define Primary &amp; Foreign Keys</a:t>
            </a:r>
          </a:p>
          <a:p>
            <a:pPr marL="0" lvl="0" indent="0">
              <a:buNone/>
            </a:pPr>
            <a:r>
              <a:rPr lang="en-IN" sz="2000" dirty="0"/>
              <a:t>7.Create GitHub repo &amp;      responsibilities</a:t>
            </a:r>
          </a:p>
          <a:p>
            <a:pPr marL="0" lvl="0" indent="0">
              <a:buNone/>
            </a:pPr>
            <a:r>
              <a:rPr lang="en-IN" sz="2000" dirty="0"/>
              <a:t>8.Database creation &amp; constraints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19D2E-EC31-C7D3-21A9-87AEE327C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6733"/>
            <a:ext cx="5181600" cy="447886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2000" dirty="0"/>
              <a:t>9</a:t>
            </a:r>
            <a:r>
              <a:rPr lang="en-IN" sz="2400" dirty="0"/>
              <a:t>.</a:t>
            </a:r>
            <a:r>
              <a:rPr lang="en-IN" sz="2000" dirty="0"/>
              <a:t>Insert sample data </a:t>
            </a:r>
          </a:p>
          <a:p>
            <a:pPr marL="0" lvl="0" indent="0">
              <a:buNone/>
            </a:pPr>
            <a:r>
              <a:rPr lang="en-IN" sz="2000" dirty="0"/>
              <a:t>10.DDL, DML &amp; DQL operations </a:t>
            </a:r>
          </a:p>
          <a:p>
            <a:pPr marL="0" lvl="0" indent="0">
              <a:buNone/>
            </a:pPr>
            <a:r>
              <a:rPr lang="en-IN" sz="2000" dirty="0"/>
              <a:t>11.CRUD operations &amp; SQL queries </a:t>
            </a:r>
          </a:p>
          <a:p>
            <a:pPr marL="0" lvl="0" indent="0">
              <a:buNone/>
            </a:pPr>
            <a:r>
              <a:rPr lang="en-IN" sz="2000" dirty="0"/>
              <a:t>12.Data integrity &amp; validation </a:t>
            </a:r>
          </a:p>
          <a:p>
            <a:pPr marL="0" lvl="0" indent="0">
              <a:buNone/>
            </a:pPr>
            <a:r>
              <a:rPr lang="en-IN" sz="2000" dirty="0"/>
              <a:t>13.Project documentation </a:t>
            </a:r>
          </a:p>
          <a:p>
            <a:pPr marL="0" lvl="0" indent="0">
              <a:buNone/>
            </a:pPr>
            <a:r>
              <a:rPr lang="en-IN" sz="2000" dirty="0"/>
              <a:t>14.Demonstrate &amp; present database </a:t>
            </a:r>
          </a:p>
          <a:p>
            <a:pPr marL="0" lvl="0" indent="0">
              <a:buNone/>
            </a:pPr>
            <a:r>
              <a:rPr lang="en-IN" sz="2000" dirty="0"/>
              <a:t>15.Conclusion </a:t>
            </a:r>
          </a:p>
          <a:p>
            <a:endParaRPr lang="en-IN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B1F62434-E518-1CB6-DEF3-A289F2A984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238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67286-18F5-4582-CE27-6F5DB7DA1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ct val="60000"/>
              </a:spcAft>
            </a:pPr>
            <a:endParaRPr lang="en-US" altLang="zh-CN" sz="2400" dirty="0"/>
          </a:p>
          <a:p>
            <a:r>
              <a:rPr lang="en-IN" sz="2400" dirty="0"/>
              <a:t>A Library Management System is a database-based application developed to manage library resources efficiently.</a:t>
            </a:r>
          </a:p>
          <a:p>
            <a:r>
              <a:rPr lang="en-IN" sz="2400" dirty="0"/>
              <a:t>The system stores and manages information about books, members, library seats, contact enquiries, and book borrowing records.</a:t>
            </a:r>
          </a:p>
          <a:p>
            <a:r>
              <a:rPr lang="en-IN" sz="2400" dirty="0"/>
              <a:t>It provides facilities to add, search, update, borrow, and return books while maintaining accurate availability information.</a:t>
            </a:r>
          </a:p>
          <a:p>
            <a:r>
              <a:rPr lang="en-IN" sz="2400" dirty="0"/>
              <a:t>The system uses </a:t>
            </a:r>
            <a:r>
              <a:rPr lang="en-IN" sz="2400" b="1" dirty="0"/>
              <a:t>SQLite</a:t>
            </a:r>
            <a:r>
              <a:rPr lang="en-IN" sz="2400" dirty="0"/>
              <a:t> as the database and demonstrates important DBMS concepts such as </a:t>
            </a:r>
            <a:r>
              <a:rPr lang="en-IN" sz="2400" b="1" dirty="0"/>
              <a:t>DDL, DML, DQL, CRUD operations, constraints, aggregate functions, joins, views, and data validation</a:t>
            </a:r>
            <a:r>
              <a:rPr lang="en-IN" sz="2400" dirty="0"/>
              <a:t>.</a:t>
            </a:r>
          </a:p>
          <a:p>
            <a:r>
              <a:rPr lang="en-IN" sz="2400" dirty="0"/>
              <a:t>The system reduces manual work, improves data organization, and provides quick access to library information.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B5AFDD90-AB44-78E8-7CD8-E5C3204408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1EAA0B4-A938-212D-49BF-D74750C2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046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ABSTRACT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78590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3F27-ED8B-22AC-5E35-FE6FFC4F2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440" y="365125"/>
            <a:ext cx="7534359" cy="1325563"/>
          </a:xfrm>
        </p:spPr>
        <p:txBody>
          <a:bodyPr>
            <a:normAutofit/>
          </a:bodyPr>
          <a:lstStyle/>
          <a:p>
            <a:r>
              <a:rPr lang="en-US" dirty="0"/>
              <a:t>INTRADUCTION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5448F-6797-FA6E-7CC0-9AA8FFD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28776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A </a:t>
            </a:r>
            <a:r>
              <a:rPr lang="en-IN" b="1" dirty="0"/>
              <a:t>Library Management System</a:t>
            </a:r>
            <a:r>
              <a:rPr lang="en-IN" dirty="0"/>
              <a:t> is a database-driven system designed to manage library operations.</a:t>
            </a:r>
          </a:p>
          <a:p>
            <a:pPr lvl="0"/>
            <a:r>
              <a:rPr lang="en-IN" dirty="0"/>
              <a:t>It stores details of books in an organized database. </a:t>
            </a:r>
          </a:p>
          <a:p>
            <a:pPr lvl="0"/>
            <a:r>
              <a:rPr lang="en-IN" dirty="0"/>
              <a:t>It maintains member information. </a:t>
            </a:r>
          </a:p>
          <a:p>
            <a:pPr lvl="0"/>
            <a:r>
              <a:rPr lang="en-IN" dirty="0"/>
              <a:t>It manages book borrowing and returning records. </a:t>
            </a:r>
          </a:p>
          <a:p>
            <a:pPr lvl="0"/>
            <a:r>
              <a:rPr lang="en-IN" dirty="0"/>
              <a:t>It tracks book availability. </a:t>
            </a:r>
          </a:p>
          <a:p>
            <a:pPr lvl="0"/>
            <a:r>
              <a:rPr lang="en-IN" dirty="0"/>
              <a:t>It manages library seat availability. </a:t>
            </a:r>
          </a:p>
          <a:p>
            <a:pPr lvl="0"/>
            <a:r>
              <a:rPr lang="en-IN" dirty="0"/>
              <a:t>It stores user contact messages and enquiries. </a:t>
            </a:r>
          </a:p>
          <a:p>
            <a:pPr lvl="0"/>
            <a:r>
              <a:rPr lang="en-IN" dirty="0"/>
              <a:t>It provides search and filtering facilities. </a:t>
            </a:r>
          </a:p>
          <a:p>
            <a:pPr lvl="0"/>
            <a:r>
              <a:rPr lang="en-IN" dirty="0"/>
              <a:t>It reduces manual paperwork. </a:t>
            </a:r>
          </a:p>
          <a:p>
            <a:pPr lvl="0"/>
            <a:r>
              <a:rPr lang="en-IN" dirty="0"/>
              <a:t>It improves accuracy and data accessibility. </a:t>
            </a:r>
          </a:p>
          <a:p>
            <a:pPr lvl="0"/>
            <a:r>
              <a:rPr lang="en-IN" dirty="0"/>
              <a:t>It demonstrates practical implementation of DBMS concepts.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6DF7E7F4-8D47-10E3-68DC-D765A5C1E5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92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C8400-A762-9781-F360-E6DC1B0C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72" y="152956"/>
            <a:ext cx="8278827" cy="1325563"/>
          </a:xfrm>
        </p:spPr>
        <p:txBody>
          <a:bodyPr/>
          <a:lstStyle/>
          <a:p>
            <a:r>
              <a:rPr lang="en-US" dirty="0"/>
              <a:t>PROBLEM 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F60EB-7708-00CD-3304-0D406AE33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778" y="1253331"/>
            <a:ext cx="10515600" cy="4351338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Problem Statement</a:t>
            </a:r>
          </a:p>
          <a:p>
            <a:r>
              <a:rPr lang="en-IN" sz="2000" dirty="0"/>
              <a:t>Managing books, members, authors, publishers, librarians, and issue/return transactions manually is time-consuming and may lead to duplication and errors. Searching for records and tracking book availability, due dates, and transactions also becomes difficult as the number of records increases.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Objectives</a:t>
            </a:r>
          </a:p>
          <a:p>
            <a:pPr marL="342900" lvl="0" indent="-342900"/>
            <a:r>
              <a:rPr lang="en-IN" sz="2000" dirty="0"/>
              <a:t>Maintain organized book records. </a:t>
            </a:r>
          </a:p>
          <a:p>
            <a:pPr marL="342900" lvl="0" indent="-342900"/>
            <a:r>
              <a:rPr lang="en-IN" sz="2000" dirty="0"/>
              <a:t>Manage member registration and details. </a:t>
            </a:r>
          </a:p>
          <a:p>
            <a:pPr marL="342900" lvl="0" indent="-342900"/>
            <a:r>
              <a:rPr lang="en-IN" sz="2000" dirty="0"/>
              <a:t>Track book availability. </a:t>
            </a:r>
          </a:p>
          <a:p>
            <a:pPr marL="342900" lvl="0" indent="-342900"/>
            <a:r>
              <a:rPr lang="en-IN" sz="2000" dirty="0"/>
              <a:t>Manage issue and return transactions. </a:t>
            </a:r>
          </a:p>
          <a:p>
            <a:pPr marL="342900" lvl="0" indent="-342900"/>
            <a:r>
              <a:rPr lang="en-IN" sz="2000" dirty="0"/>
              <a:t>Maintain author and publisher information. </a:t>
            </a:r>
          </a:p>
          <a:p>
            <a:pPr marL="342900" lvl="0" indent="-342900"/>
            <a:r>
              <a:rPr lang="en-IN" sz="2000" dirty="0"/>
              <a:t>Track issue, due, and return dates. </a:t>
            </a:r>
          </a:p>
          <a:p>
            <a:pPr marL="342900" lvl="0" indent="-342900"/>
            <a:r>
              <a:rPr lang="en-IN" sz="2000" dirty="0"/>
              <a:t>Reduce manual work and data errors. </a:t>
            </a:r>
          </a:p>
          <a:p>
            <a:pPr marL="342900" lvl="0" indent="-342900"/>
            <a:r>
              <a:rPr lang="en-IN" sz="2000" dirty="0"/>
              <a:t>Provide quick retrieval of library information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7FDF0F5E-C567-C251-556F-20DEC9503B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5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78145-43BF-4259-88BD-F47F4D572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444" y="-85488"/>
            <a:ext cx="10515600" cy="1325563"/>
          </a:xfrm>
        </p:spPr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4C772-E2CB-3194-8D57-68525E95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408815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IN" sz="9600" b="1" dirty="0"/>
              <a:t>Objectives of the Project</a:t>
            </a:r>
          </a:p>
          <a:p>
            <a:pPr lvl="0"/>
            <a:r>
              <a:rPr lang="en-IN" sz="9600" dirty="0"/>
              <a:t>To manage library books efficiently. </a:t>
            </a:r>
          </a:p>
          <a:p>
            <a:pPr lvl="0"/>
            <a:r>
              <a:rPr lang="en-IN" sz="9600" dirty="0"/>
              <a:t>To store and maintain book details. </a:t>
            </a:r>
          </a:p>
          <a:p>
            <a:pPr lvl="0"/>
            <a:r>
              <a:rPr lang="en-IN" sz="9600" dirty="0"/>
              <a:t>To manage library member details. </a:t>
            </a:r>
          </a:p>
          <a:p>
            <a:pPr lvl="0"/>
            <a:r>
              <a:rPr lang="en-IN" sz="9600" dirty="0"/>
              <a:t>To maintain book borrowing and returning records. </a:t>
            </a:r>
          </a:p>
          <a:p>
            <a:pPr lvl="0"/>
            <a:r>
              <a:rPr lang="en-IN" sz="9600" dirty="0"/>
              <a:t>To track book availability. </a:t>
            </a:r>
          </a:p>
          <a:p>
            <a:pPr lvl="0"/>
            <a:r>
              <a:rPr lang="en-IN" sz="9600" dirty="0"/>
              <a:t>To manage library seat availability. </a:t>
            </a:r>
          </a:p>
          <a:p>
            <a:pPr lvl="0"/>
            <a:r>
              <a:rPr lang="en-IN" sz="9600" dirty="0"/>
              <a:t>To store contact and enquiry information. </a:t>
            </a:r>
          </a:p>
          <a:p>
            <a:pPr lvl="0"/>
            <a:r>
              <a:rPr lang="en-IN" sz="9600" dirty="0"/>
              <a:t>To perform CRUD operations. </a:t>
            </a:r>
          </a:p>
          <a:p>
            <a:pPr lvl="0"/>
            <a:r>
              <a:rPr lang="en-IN" sz="9600" dirty="0"/>
              <a:t>To implement DDL, DML and DQL operations. </a:t>
            </a:r>
          </a:p>
          <a:p>
            <a:pPr lvl="0"/>
            <a:r>
              <a:rPr lang="en-IN" sz="9600" dirty="0"/>
              <a:t>To implement SQL joins and aggregate functions. </a:t>
            </a:r>
          </a:p>
          <a:p>
            <a:pPr lvl="0"/>
            <a:r>
              <a:rPr lang="en-IN" sz="9600" dirty="0"/>
              <a:t>To create and use SQL views. </a:t>
            </a:r>
          </a:p>
          <a:p>
            <a:pPr lvl="0"/>
            <a:r>
              <a:rPr lang="en-IN" sz="9600" dirty="0"/>
              <a:t>To maintain data integrity using constraints. </a:t>
            </a:r>
          </a:p>
          <a:p>
            <a:pPr lvl="0"/>
            <a:r>
              <a:rPr lang="en-IN" sz="9600" dirty="0"/>
              <a:t>To provide quick and organized access to library information.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DF1A7069-86B1-9047-DFDD-F711532903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67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47DD-DF46-F1A6-4F5A-E5C50296A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94" y="-213098"/>
            <a:ext cx="8286919" cy="1325563"/>
          </a:xfrm>
        </p:spPr>
        <p:txBody>
          <a:bodyPr/>
          <a:lstStyle/>
          <a:p>
            <a:r>
              <a:rPr lang="en-IN" dirty="0"/>
              <a:t>ENTITY AND ATTRIBUTES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8022A-1BDF-6633-7FD4-A11DA66FF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887" y="700768"/>
            <a:ext cx="10515600" cy="4351338"/>
          </a:xfrm>
        </p:spPr>
        <p:txBody>
          <a:bodyPr/>
          <a:lstStyle/>
          <a:p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: BOOK</a:t>
            </a:r>
            <a:endParaRPr lang="en-IN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D9AA72-745B-C26F-B7F1-7D6635ABB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834754"/>
              </p:ext>
            </p:extLst>
          </p:nvPr>
        </p:nvGraphicFramePr>
        <p:xfrm>
          <a:off x="755257" y="1039533"/>
          <a:ext cx="9689795" cy="32332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0857">
                  <a:extLst>
                    <a:ext uri="{9D8B030D-6E8A-4147-A177-3AD203B41FA5}">
                      <a16:colId xmlns:a16="http://schemas.microsoft.com/office/drawing/2014/main" val="3685781251"/>
                    </a:ext>
                  </a:extLst>
                </a:gridCol>
                <a:gridCol w="1732076">
                  <a:extLst>
                    <a:ext uri="{9D8B030D-6E8A-4147-A177-3AD203B41FA5}">
                      <a16:colId xmlns:a16="http://schemas.microsoft.com/office/drawing/2014/main" val="1513991940"/>
                    </a:ext>
                  </a:extLst>
                </a:gridCol>
                <a:gridCol w="1979515">
                  <a:extLst>
                    <a:ext uri="{9D8B030D-6E8A-4147-A177-3AD203B41FA5}">
                      <a16:colId xmlns:a16="http://schemas.microsoft.com/office/drawing/2014/main" val="2521130968"/>
                    </a:ext>
                  </a:extLst>
                </a:gridCol>
                <a:gridCol w="1732076">
                  <a:extLst>
                    <a:ext uri="{9D8B030D-6E8A-4147-A177-3AD203B41FA5}">
                      <a16:colId xmlns:a16="http://schemas.microsoft.com/office/drawing/2014/main" val="1537521328"/>
                    </a:ext>
                  </a:extLst>
                </a:gridCol>
                <a:gridCol w="2575271">
                  <a:extLst>
                    <a:ext uri="{9D8B030D-6E8A-4147-A177-3AD203B41FA5}">
                      <a16:colId xmlns:a16="http://schemas.microsoft.com/office/drawing/2014/main" val="555438929"/>
                    </a:ext>
                  </a:extLst>
                </a:gridCol>
              </a:tblGrid>
              <a:tr h="6073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Attribute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Type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Constraint / Note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Attribute Type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978208"/>
                  </a:ext>
                </a:extLst>
              </a:tr>
              <a:tr h="2441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book_id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 identifier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464560"/>
                  </a:ext>
                </a:extLst>
              </a:tr>
              <a:tr h="3157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VARCHAR(200)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 title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091746"/>
                  </a:ext>
                </a:extLst>
              </a:tr>
              <a:tr h="4882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isbn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VARCHAR(20)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NOT NULL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ISBN number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492327"/>
                  </a:ext>
                </a:extLst>
              </a:tr>
              <a:tr h="2441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total_copies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copies held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777255"/>
                  </a:ext>
                </a:extLst>
              </a:tr>
              <a:tr h="3157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available_copies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Derived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Derived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− loaned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782359"/>
                  </a:ext>
                </a:extLst>
              </a:tr>
              <a:tr h="2441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genre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VARCHAR(50)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Fiction/Science etc.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382561"/>
                  </a:ext>
                </a:extLst>
              </a:tr>
              <a:tr h="3157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publication_year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published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155248"/>
                  </a:ext>
                </a:extLst>
              </a:tr>
              <a:tr h="2712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  <a:endParaRPr lang="en-IN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Multi-valued</a:t>
                      </a:r>
                      <a:endParaRPr lang="en-IN" sz="20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Multi-valued</a:t>
                      </a:r>
                      <a:endParaRPr lang="en-IN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Book_Author</a:t>
                      </a:r>
                      <a:r>
                        <a:rPr lang="en-IN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table</a:t>
                      </a:r>
                      <a:endParaRPr lang="en-IN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114919"/>
                  </a:ext>
                </a:extLst>
              </a:tr>
            </a:tbl>
          </a:graphicData>
        </a:graphic>
      </p:graphicFrame>
      <p:pic>
        <p:nvPicPr>
          <p:cNvPr id="8" name="object 3">
            <a:extLst>
              <a:ext uri="{FF2B5EF4-FFF2-40B4-BE49-F238E27FC236}">
                <a16:creationId xmlns:a16="http://schemas.microsoft.com/office/drawing/2014/main" id="{7A8D54B6-B421-871A-7995-E2AA8B94F56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70885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F0AAA-0C16-8699-C510-FEFE5F8626F0}"/>
              </a:ext>
            </a:extLst>
          </p:cNvPr>
          <p:cNvSpPr txBox="1"/>
          <p:nvPr/>
        </p:nvSpPr>
        <p:spPr>
          <a:xfrm>
            <a:off x="755257" y="4204892"/>
            <a:ext cx="181992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ENTITY: FINE</a:t>
            </a:r>
            <a:endParaRPr lang="en-IN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F35A5A-68CE-F8C9-437B-10F9A1FDAC16}"/>
              </a:ext>
            </a:extLst>
          </p:cNvPr>
          <p:cNvSpPr txBox="1"/>
          <p:nvPr/>
        </p:nvSpPr>
        <p:spPr>
          <a:xfrm>
            <a:off x="4402667" y="60790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3549A6B-E412-C0D4-533E-29090DEB2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076824"/>
              </p:ext>
            </p:extLst>
          </p:nvPr>
        </p:nvGraphicFramePr>
        <p:xfrm>
          <a:off x="755257" y="4543446"/>
          <a:ext cx="9734860" cy="2255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7283">
                  <a:extLst>
                    <a:ext uri="{9D8B030D-6E8A-4147-A177-3AD203B41FA5}">
                      <a16:colId xmlns:a16="http://schemas.microsoft.com/office/drawing/2014/main" val="3757861916"/>
                    </a:ext>
                  </a:extLst>
                </a:gridCol>
                <a:gridCol w="1747283">
                  <a:extLst>
                    <a:ext uri="{9D8B030D-6E8A-4147-A177-3AD203B41FA5}">
                      <a16:colId xmlns:a16="http://schemas.microsoft.com/office/drawing/2014/main" val="3999942556"/>
                    </a:ext>
                  </a:extLst>
                </a:gridCol>
                <a:gridCol w="1996894">
                  <a:extLst>
                    <a:ext uri="{9D8B030D-6E8A-4147-A177-3AD203B41FA5}">
                      <a16:colId xmlns:a16="http://schemas.microsoft.com/office/drawing/2014/main" val="4054319891"/>
                    </a:ext>
                  </a:extLst>
                </a:gridCol>
                <a:gridCol w="1747283">
                  <a:extLst>
                    <a:ext uri="{9D8B030D-6E8A-4147-A177-3AD203B41FA5}">
                      <a16:colId xmlns:a16="http://schemas.microsoft.com/office/drawing/2014/main" val="749845803"/>
                    </a:ext>
                  </a:extLst>
                </a:gridCol>
                <a:gridCol w="2496117">
                  <a:extLst>
                    <a:ext uri="{9D8B030D-6E8A-4147-A177-3AD203B41FA5}">
                      <a16:colId xmlns:a16="http://schemas.microsoft.com/office/drawing/2014/main" val="13495948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Attribute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Type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Constraint / Note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Attribute Type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09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fine_id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 identifier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48374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loan_id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 → Loan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Related loan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7325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member_id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 → Member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 fined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78186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fine_amount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DECIMAL(8,2)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 charged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98164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fine_date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levied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73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payment_status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Paid/Unpaid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018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9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091C7D60-8429-A148-951F-A65ECA2603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C678DA-4B8C-593C-DD84-54DF91CF7899}"/>
              </a:ext>
            </a:extLst>
          </p:cNvPr>
          <p:cNvSpPr txBox="1"/>
          <p:nvPr/>
        </p:nvSpPr>
        <p:spPr>
          <a:xfrm>
            <a:off x="445734" y="712726"/>
            <a:ext cx="240995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: AUTHOR</a:t>
            </a:r>
            <a:endParaRPr lang="en-IN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E85A6A-B00A-D7A8-31EE-283D858C2C78}"/>
              </a:ext>
            </a:extLst>
          </p:cNvPr>
          <p:cNvSpPr txBox="1"/>
          <p:nvPr/>
        </p:nvSpPr>
        <p:spPr>
          <a:xfrm>
            <a:off x="5611906" y="426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03F15-9A0A-0D79-38C1-608B53C44F26}"/>
              </a:ext>
            </a:extLst>
          </p:cNvPr>
          <p:cNvSpPr txBox="1"/>
          <p:nvPr/>
        </p:nvSpPr>
        <p:spPr>
          <a:xfrm>
            <a:off x="5629835" y="51457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FD710-8F86-882A-A234-7845D5F93F0E}"/>
              </a:ext>
            </a:extLst>
          </p:cNvPr>
          <p:cNvSpPr txBox="1"/>
          <p:nvPr/>
        </p:nvSpPr>
        <p:spPr>
          <a:xfrm>
            <a:off x="6293224" y="426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530163B-5BDB-D205-904E-CA33F39BF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009116"/>
              </p:ext>
            </p:extLst>
          </p:nvPr>
        </p:nvGraphicFramePr>
        <p:xfrm>
          <a:off x="445734" y="1086503"/>
          <a:ext cx="9505310" cy="21263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2935">
                  <a:extLst>
                    <a:ext uri="{9D8B030D-6E8A-4147-A177-3AD203B41FA5}">
                      <a16:colId xmlns:a16="http://schemas.microsoft.com/office/drawing/2014/main" val="2048864916"/>
                    </a:ext>
                  </a:extLst>
                </a:gridCol>
                <a:gridCol w="1568450">
                  <a:extLst>
                    <a:ext uri="{9D8B030D-6E8A-4147-A177-3AD203B41FA5}">
                      <a16:colId xmlns:a16="http://schemas.microsoft.com/office/drawing/2014/main" val="1068041183"/>
                    </a:ext>
                  </a:extLst>
                </a:gridCol>
                <a:gridCol w="2003351">
                  <a:extLst>
                    <a:ext uri="{9D8B030D-6E8A-4147-A177-3AD203B41FA5}">
                      <a16:colId xmlns:a16="http://schemas.microsoft.com/office/drawing/2014/main" val="1185447487"/>
                    </a:ext>
                  </a:extLst>
                </a:gridCol>
                <a:gridCol w="1752935">
                  <a:extLst>
                    <a:ext uri="{9D8B030D-6E8A-4147-A177-3AD203B41FA5}">
                      <a16:colId xmlns:a16="http://schemas.microsoft.com/office/drawing/2014/main" val="3288918775"/>
                    </a:ext>
                  </a:extLst>
                </a:gridCol>
                <a:gridCol w="2427639">
                  <a:extLst>
                    <a:ext uri="{9D8B030D-6E8A-4147-A177-3AD203B41FA5}">
                      <a16:colId xmlns:a16="http://schemas.microsoft.com/office/drawing/2014/main" val="2451960419"/>
                    </a:ext>
                  </a:extLst>
                </a:gridCol>
              </a:tblGrid>
              <a:tr h="6096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Attribute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Type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Constraint / Note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Attribute Type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758227"/>
                  </a:ext>
                </a:extLst>
              </a:tr>
              <a:tr h="3548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author_id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identifier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269554"/>
                  </a:ext>
                </a:extLst>
              </a:tr>
              <a:tr h="3548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first_name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VARCHAR(50)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Composite part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name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578034"/>
                  </a:ext>
                </a:extLst>
              </a:tr>
              <a:tr h="375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last_name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VARCHAR(50)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Composite part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 name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104983"/>
                  </a:ext>
                </a:extLst>
              </a:tr>
              <a:tr h="4316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nationality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VARCHAR(50)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 of origin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53102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4030D92-2934-DD2A-DF2F-6E73A7EBD2ED}"/>
              </a:ext>
            </a:extLst>
          </p:cNvPr>
          <p:cNvSpPr txBox="1"/>
          <p:nvPr/>
        </p:nvSpPr>
        <p:spPr>
          <a:xfrm>
            <a:off x="381955" y="321288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: MEMBER</a:t>
            </a:r>
            <a:endParaRPr lang="en-IN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D81C5A3-6C16-9061-571A-AC4870939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546052"/>
              </p:ext>
            </p:extLst>
          </p:nvPr>
        </p:nvGraphicFramePr>
        <p:xfrm>
          <a:off x="361602" y="3645120"/>
          <a:ext cx="9673573" cy="31677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3489">
                  <a:extLst>
                    <a:ext uri="{9D8B030D-6E8A-4147-A177-3AD203B41FA5}">
                      <a16:colId xmlns:a16="http://schemas.microsoft.com/office/drawing/2014/main" val="2278938284"/>
                    </a:ext>
                  </a:extLst>
                </a:gridCol>
                <a:gridCol w="1699076">
                  <a:extLst>
                    <a:ext uri="{9D8B030D-6E8A-4147-A177-3AD203B41FA5}">
                      <a16:colId xmlns:a16="http://schemas.microsoft.com/office/drawing/2014/main" val="1844183489"/>
                    </a:ext>
                  </a:extLst>
                </a:gridCol>
                <a:gridCol w="1984323">
                  <a:extLst>
                    <a:ext uri="{9D8B030D-6E8A-4147-A177-3AD203B41FA5}">
                      <a16:colId xmlns:a16="http://schemas.microsoft.com/office/drawing/2014/main" val="3092089549"/>
                    </a:ext>
                  </a:extLst>
                </a:gridCol>
                <a:gridCol w="1736282">
                  <a:extLst>
                    <a:ext uri="{9D8B030D-6E8A-4147-A177-3AD203B41FA5}">
                      <a16:colId xmlns:a16="http://schemas.microsoft.com/office/drawing/2014/main" val="4041281865"/>
                    </a:ext>
                  </a:extLst>
                </a:gridCol>
                <a:gridCol w="2480403">
                  <a:extLst>
                    <a:ext uri="{9D8B030D-6E8A-4147-A177-3AD203B41FA5}">
                      <a16:colId xmlns:a16="http://schemas.microsoft.com/office/drawing/2014/main" val="2764704027"/>
                    </a:ext>
                  </a:extLst>
                </a:gridCol>
              </a:tblGrid>
              <a:tr h="6805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Attribute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Type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Constraint / Note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Attribute Type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543613"/>
                  </a:ext>
                </a:extLst>
              </a:tr>
              <a:tr h="261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member_id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 identifier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4184"/>
                  </a:ext>
                </a:extLst>
              </a:tr>
              <a:tr h="261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first_name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VARCHAR(50)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Composite part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name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326892"/>
                  </a:ext>
                </a:extLst>
              </a:tr>
              <a:tr h="261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last_name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VARCHAR(50)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Composite part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 name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16281"/>
                  </a:ext>
                </a:extLst>
              </a:tr>
              <a:tr h="261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VARCHAR(100)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 address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114189"/>
                  </a:ext>
                </a:extLst>
              </a:tr>
              <a:tr h="261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membership_type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VARCHAR(30)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Student/Faculty/Public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633976"/>
                  </a:ext>
                </a:extLst>
              </a:tr>
              <a:tr h="2803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membership_date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 date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07181"/>
                  </a:ext>
                </a:extLst>
              </a:tr>
              <a:tr h="561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membership_expiry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Expiry date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170098"/>
                  </a:ext>
                </a:extLst>
              </a:tr>
              <a:tr h="261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phone_numbers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Multi-valued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Multi-valued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Member_Phone</a:t>
                      </a: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table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083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7360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7D39BD14-3516-AE9F-A42A-6ECF414044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676641-E33D-D885-9B53-EB089B0D566C}"/>
              </a:ext>
            </a:extLst>
          </p:cNvPr>
          <p:cNvSpPr txBox="1"/>
          <p:nvPr/>
        </p:nvSpPr>
        <p:spPr>
          <a:xfrm>
            <a:off x="429091" y="54093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: PUBLISHER</a:t>
            </a:r>
            <a:endParaRPr lang="en-IN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6AAD6A-A538-A5D9-B2E4-72C718FD4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13292"/>
              </p:ext>
            </p:extLst>
          </p:nvPr>
        </p:nvGraphicFramePr>
        <p:xfrm>
          <a:off x="429091" y="869719"/>
          <a:ext cx="9673572" cy="2814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6282">
                  <a:extLst>
                    <a:ext uri="{9D8B030D-6E8A-4147-A177-3AD203B41FA5}">
                      <a16:colId xmlns:a16="http://schemas.microsoft.com/office/drawing/2014/main" val="4141428786"/>
                    </a:ext>
                  </a:extLst>
                </a:gridCol>
                <a:gridCol w="1736282">
                  <a:extLst>
                    <a:ext uri="{9D8B030D-6E8A-4147-A177-3AD203B41FA5}">
                      <a16:colId xmlns:a16="http://schemas.microsoft.com/office/drawing/2014/main" val="3906128640"/>
                    </a:ext>
                  </a:extLst>
                </a:gridCol>
                <a:gridCol w="1984322">
                  <a:extLst>
                    <a:ext uri="{9D8B030D-6E8A-4147-A177-3AD203B41FA5}">
                      <a16:colId xmlns:a16="http://schemas.microsoft.com/office/drawing/2014/main" val="4136775401"/>
                    </a:ext>
                  </a:extLst>
                </a:gridCol>
                <a:gridCol w="1736282">
                  <a:extLst>
                    <a:ext uri="{9D8B030D-6E8A-4147-A177-3AD203B41FA5}">
                      <a16:colId xmlns:a16="http://schemas.microsoft.com/office/drawing/2014/main" val="3796435392"/>
                    </a:ext>
                  </a:extLst>
                </a:gridCol>
                <a:gridCol w="2480404">
                  <a:extLst>
                    <a:ext uri="{9D8B030D-6E8A-4147-A177-3AD203B41FA5}">
                      <a16:colId xmlns:a16="http://schemas.microsoft.com/office/drawing/2014/main" val="2726967214"/>
                    </a:ext>
                  </a:extLst>
                </a:gridCol>
              </a:tblGrid>
              <a:tr h="6800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Attribute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Type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Constraint / Note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Attribute Type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519381"/>
                  </a:ext>
                </a:extLst>
              </a:tr>
              <a:tr h="38456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publisher_id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 identifier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703682"/>
                  </a:ext>
                </a:extLst>
              </a:tr>
              <a:tr h="68005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publisher_name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VARCHAR(100)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 name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304518"/>
                  </a:ext>
                </a:extLst>
              </a:tr>
              <a:tr h="3900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VARCHAR(50)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58386"/>
                  </a:ext>
                </a:extLst>
              </a:tr>
              <a:tr h="68005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VARCHAR(200)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6156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36E0152-4545-2462-94F9-E814141105CE}"/>
              </a:ext>
            </a:extLst>
          </p:cNvPr>
          <p:cNvSpPr txBox="1"/>
          <p:nvPr/>
        </p:nvSpPr>
        <p:spPr>
          <a:xfrm>
            <a:off x="3810000" y="47582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BBEA05-7316-46C2-99FC-546180AA31D9}"/>
              </a:ext>
            </a:extLst>
          </p:cNvPr>
          <p:cNvSpPr txBox="1"/>
          <p:nvPr/>
        </p:nvSpPr>
        <p:spPr>
          <a:xfrm>
            <a:off x="429091" y="3674685"/>
            <a:ext cx="211808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: LOAN </a:t>
            </a:r>
            <a:endParaRPr lang="en-IN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5648F33-FAE1-770C-1A8D-71F180370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821545"/>
              </p:ext>
            </p:extLst>
          </p:nvPr>
        </p:nvGraphicFramePr>
        <p:xfrm>
          <a:off x="367803" y="4013239"/>
          <a:ext cx="9734860" cy="2830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7282">
                  <a:extLst>
                    <a:ext uri="{9D8B030D-6E8A-4147-A177-3AD203B41FA5}">
                      <a16:colId xmlns:a16="http://schemas.microsoft.com/office/drawing/2014/main" val="259627615"/>
                    </a:ext>
                  </a:extLst>
                </a:gridCol>
                <a:gridCol w="1747282">
                  <a:extLst>
                    <a:ext uri="{9D8B030D-6E8A-4147-A177-3AD203B41FA5}">
                      <a16:colId xmlns:a16="http://schemas.microsoft.com/office/drawing/2014/main" val="436330429"/>
                    </a:ext>
                  </a:extLst>
                </a:gridCol>
                <a:gridCol w="1996895">
                  <a:extLst>
                    <a:ext uri="{9D8B030D-6E8A-4147-A177-3AD203B41FA5}">
                      <a16:colId xmlns:a16="http://schemas.microsoft.com/office/drawing/2014/main" val="3268330090"/>
                    </a:ext>
                  </a:extLst>
                </a:gridCol>
                <a:gridCol w="1747282">
                  <a:extLst>
                    <a:ext uri="{9D8B030D-6E8A-4147-A177-3AD203B41FA5}">
                      <a16:colId xmlns:a16="http://schemas.microsoft.com/office/drawing/2014/main" val="1910725744"/>
                    </a:ext>
                  </a:extLst>
                </a:gridCol>
                <a:gridCol w="2496119">
                  <a:extLst>
                    <a:ext uri="{9D8B030D-6E8A-4147-A177-3AD203B41FA5}">
                      <a16:colId xmlns:a16="http://schemas.microsoft.com/office/drawing/2014/main" val="2320655934"/>
                    </a:ext>
                  </a:extLst>
                </a:gridCol>
              </a:tblGrid>
              <a:tr h="3123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Attribute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Type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Constraint / Note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Attribute Type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71205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loan_id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 identifier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78864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book_id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 → Book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Borrowed book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756331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member_id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 → Member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Borrowing member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58813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loan_date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borrowed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487029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due_date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deadline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597796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return_date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return date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05828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days_overdue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Derived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Derived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return_date</a:t>
                      </a: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− </a:t>
                      </a: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due_date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903355"/>
                  </a:ext>
                </a:extLst>
              </a:tr>
              <a:tr h="27764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Active/Returned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652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6302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07CF72-5B39-3AEA-9E88-F24C79FB1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9902"/>
            <a:ext cx="6924026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ER-DIAGRAM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14ED76D-31F6-1D78-1187-FD6FA01A1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896" r="-1" b="-1"/>
          <a:stretch>
            <a:fillRect/>
          </a:stretch>
        </p:blipFill>
        <p:spPr>
          <a:xfrm>
            <a:off x="1" y="10"/>
            <a:ext cx="12191998" cy="5352218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E7397516-8F70-2354-7898-F0E7FAA2B2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291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98B4A-4082-8062-5AC7-34455AE9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880" y="19050"/>
            <a:ext cx="8068733" cy="647362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RELATIONAL DATABASE SCHEMA</a:t>
            </a:r>
            <a:endParaRPr lang="en-IN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5B3C5BAF-C785-21F8-9944-E3B78D5413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BB7F2A-9B4C-8119-9513-95D6E7361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238" y="688806"/>
            <a:ext cx="9686925" cy="592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2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7C1D3-D3E0-2896-5484-D0602F538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052" y="-346186"/>
            <a:ext cx="9025467" cy="1189530"/>
          </a:xfrm>
        </p:spPr>
        <p:txBody>
          <a:bodyPr>
            <a:normAutofit/>
          </a:bodyPr>
          <a:lstStyle/>
          <a:p>
            <a:r>
              <a:rPr lang="en-US" sz="4000" dirty="0"/>
              <a:t>PRIMARY AND FORIGEN KEYS</a:t>
            </a:r>
            <a:endParaRPr lang="en-IN" sz="4000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E957B367-B3FE-8FE8-4F5B-389A3AE358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399" y="93436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2E9F51-C598-C107-F53D-605883D19727}"/>
              </a:ext>
            </a:extLst>
          </p:cNvPr>
          <p:cNvSpPr txBox="1"/>
          <p:nvPr/>
        </p:nvSpPr>
        <p:spPr>
          <a:xfrm>
            <a:off x="666750" y="67199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2"/>
                </a:solidFill>
              </a:rPr>
              <a:t>PRIMARY KEY</a:t>
            </a:r>
            <a:endParaRPr lang="en-IN" sz="2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3B0A3E-EC88-D4FA-514B-AF7E299916A8}"/>
              </a:ext>
            </a:extLst>
          </p:cNvPr>
          <p:cNvSpPr txBox="1"/>
          <p:nvPr/>
        </p:nvSpPr>
        <p:spPr>
          <a:xfrm>
            <a:off x="723900" y="1026004"/>
            <a:ext cx="905029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 Primary Key is an attribute that uniquely identifies each record (row) in a table</a:t>
            </a:r>
            <a:r>
              <a:rPr lang="en-IN" sz="2000" b="1" dirty="0"/>
              <a:t>.</a:t>
            </a:r>
          </a:p>
          <a:p>
            <a:endParaRPr lang="en-IN" dirty="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973B709E-BCC2-B36F-5EFE-5D2E619C6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10" y="1287877"/>
            <a:ext cx="1104991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Keys: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author_id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Publisher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publisher_id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member_id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loan_id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fine_id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Book_Author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+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author_id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(Composite Primary Key)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9404D4-BCAC-7C65-7350-A9C81D1AAA9A}"/>
              </a:ext>
            </a:extLst>
          </p:cNvPr>
          <p:cNvSpPr txBox="1"/>
          <p:nvPr/>
        </p:nvSpPr>
        <p:spPr>
          <a:xfrm>
            <a:off x="666750" y="3491250"/>
            <a:ext cx="4259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</a:t>
            </a:r>
            <a:endParaRPr lang="en-IN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D708A2-7097-8394-77CA-F004DFBF53FA}"/>
              </a:ext>
            </a:extLst>
          </p:cNvPr>
          <p:cNvSpPr txBox="1"/>
          <p:nvPr/>
        </p:nvSpPr>
        <p:spPr>
          <a:xfrm>
            <a:off x="549109" y="3791548"/>
            <a:ext cx="118160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Foreign Key is an attribute that links one table to another table by referring to the Primary Key of another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table.</a:t>
            </a:r>
          </a:p>
          <a:p>
            <a:endParaRPr lang="en-IN" dirty="0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13CA8AAD-040A-EB3A-BE88-17DF6DC2E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31" y="4361002"/>
            <a:ext cx="1036411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Foreign Keys: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 →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publisher_id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Publisher(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publisher_id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Loan →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Book(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Loan →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member_id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Member(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member_id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Fine →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loan_id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Loan(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loan_id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Fine →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member_id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Member(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member_id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Book_Author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Book(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Book_Author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author_id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Author(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author_id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552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3">
            <a:extLst>
              <a:ext uri="{FF2B5EF4-FFF2-40B4-BE49-F238E27FC236}">
                <a16:creationId xmlns:a16="http://schemas.microsoft.com/office/drawing/2014/main" id="{06D23C06-3FB3-490D-A390-81F1DFC3DA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D9A562-AD29-6EB7-3C32-A742CB742546}"/>
              </a:ext>
            </a:extLst>
          </p:cNvPr>
          <p:cNvSpPr txBox="1"/>
          <p:nvPr/>
        </p:nvSpPr>
        <p:spPr>
          <a:xfrm>
            <a:off x="1641514" y="152956"/>
            <a:ext cx="90899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/>
              <a:t>DATABASE CREATION &amp; CONSTRAINTS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B39A3D-7A44-5F1E-A651-0C6E65DDD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90165"/>
            <a:ext cx="890037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&amp; Tables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the Library Management System database.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tables for Book, Author, Publisher, Member, Loan,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Book_Author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Fine.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 DATABASE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Library_Management_System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 Created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Book, Author, Publisher, Member, Loan,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Book_Author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Fine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0D49DD0-B2D4-EFF4-F766-E91A3CB746D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52400" y="2958728"/>
            <a:ext cx="778644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Constraints Used in Our Library Management System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KEY: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Uniquely identifies each record.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author_id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member_id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FOREIGN KEY: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Connects related tables.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publisher_id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member_id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NULL: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important fields cannot be empty.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title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publisher_name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loan_date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Prevents duplicate values.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isbn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member email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valid values are entered.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fine_amount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&gt;= 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provides a value when none is given.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Loan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status = 'Active‘.</a:t>
            </a:r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payment_status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'Unpaid‘.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764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ADA557-99D0-3A43-4104-E4915C386980}"/>
              </a:ext>
            </a:extLst>
          </p:cNvPr>
          <p:cNvSpPr txBox="1"/>
          <p:nvPr/>
        </p:nvSpPr>
        <p:spPr>
          <a:xfrm>
            <a:off x="3303858" y="319489"/>
            <a:ext cx="4702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/>
              <a:t>INSERT SAMPLE DATA</a:t>
            </a:r>
          </a:p>
          <a:p>
            <a:endParaRPr lang="en-IN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0CCE6CA8-974C-6D18-B33E-40A2140B7C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ED64F32-7F11-4241-C718-916E62DB4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211467"/>
              </p:ext>
            </p:extLst>
          </p:nvPr>
        </p:nvGraphicFramePr>
        <p:xfrm>
          <a:off x="379502" y="1610008"/>
          <a:ext cx="9386650" cy="2176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8068">
                  <a:extLst>
                    <a:ext uri="{9D8B030D-6E8A-4147-A177-3AD203B41FA5}">
                      <a16:colId xmlns:a16="http://schemas.microsoft.com/office/drawing/2014/main" val="1602852505"/>
                    </a:ext>
                  </a:extLst>
                </a:gridCol>
                <a:gridCol w="2717188">
                  <a:extLst>
                    <a:ext uri="{9D8B030D-6E8A-4147-A177-3AD203B41FA5}">
                      <a16:colId xmlns:a16="http://schemas.microsoft.com/office/drawing/2014/main" val="151420198"/>
                    </a:ext>
                  </a:extLst>
                </a:gridCol>
                <a:gridCol w="1843602">
                  <a:extLst>
                    <a:ext uri="{9D8B030D-6E8A-4147-A177-3AD203B41FA5}">
                      <a16:colId xmlns:a16="http://schemas.microsoft.com/office/drawing/2014/main" val="2213173428"/>
                    </a:ext>
                  </a:extLst>
                </a:gridCol>
                <a:gridCol w="1120604">
                  <a:extLst>
                    <a:ext uri="{9D8B030D-6E8A-4147-A177-3AD203B41FA5}">
                      <a16:colId xmlns:a16="http://schemas.microsoft.com/office/drawing/2014/main" val="1446357955"/>
                    </a:ext>
                  </a:extLst>
                </a:gridCol>
                <a:gridCol w="1358594">
                  <a:extLst>
                    <a:ext uri="{9D8B030D-6E8A-4147-A177-3AD203B41FA5}">
                      <a16:colId xmlns:a16="http://schemas.microsoft.com/office/drawing/2014/main" val="3046604576"/>
                    </a:ext>
                  </a:extLst>
                </a:gridCol>
                <a:gridCol w="1358594">
                  <a:extLst>
                    <a:ext uri="{9D8B030D-6E8A-4147-A177-3AD203B41FA5}">
                      <a16:colId xmlns:a16="http://schemas.microsoft.com/office/drawing/2014/main" val="2124979888"/>
                    </a:ext>
                  </a:extLst>
                </a:gridCol>
              </a:tblGrid>
              <a:tr h="8626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book_id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isbn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total_copies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genre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publisher_id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283550"/>
                  </a:ext>
                </a:extLst>
              </a:tr>
              <a:tr h="388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System Concepts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978-0073523323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31511"/>
                  </a:ext>
                </a:extLst>
              </a:tr>
              <a:tr h="537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Code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978-0132350884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494150"/>
                  </a:ext>
                </a:extLst>
              </a:tr>
              <a:tr h="388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Alchemist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978-0062315007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Fiction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86118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9193C5F-891B-92F8-0C0E-6C23D3062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203045"/>
              </p:ext>
            </p:extLst>
          </p:nvPr>
        </p:nvGraphicFramePr>
        <p:xfrm>
          <a:off x="379502" y="4568580"/>
          <a:ext cx="9448583" cy="2136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8189">
                  <a:extLst>
                    <a:ext uri="{9D8B030D-6E8A-4147-A177-3AD203B41FA5}">
                      <a16:colId xmlns:a16="http://schemas.microsoft.com/office/drawing/2014/main" val="4244311985"/>
                    </a:ext>
                  </a:extLst>
                </a:gridCol>
                <a:gridCol w="1128189">
                  <a:extLst>
                    <a:ext uri="{9D8B030D-6E8A-4147-A177-3AD203B41FA5}">
                      <a16:colId xmlns:a16="http://schemas.microsoft.com/office/drawing/2014/main" val="3313765451"/>
                    </a:ext>
                  </a:extLst>
                </a:gridCol>
                <a:gridCol w="1410236">
                  <a:extLst>
                    <a:ext uri="{9D8B030D-6E8A-4147-A177-3AD203B41FA5}">
                      <a16:colId xmlns:a16="http://schemas.microsoft.com/office/drawing/2014/main" val="452416560"/>
                    </a:ext>
                  </a:extLst>
                </a:gridCol>
                <a:gridCol w="1551261">
                  <a:extLst>
                    <a:ext uri="{9D8B030D-6E8A-4147-A177-3AD203B41FA5}">
                      <a16:colId xmlns:a16="http://schemas.microsoft.com/office/drawing/2014/main" val="493113202"/>
                    </a:ext>
                  </a:extLst>
                </a:gridCol>
                <a:gridCol w="1410236">
                  <a:extLst>
                    <a:ext uri="{9D8B030D-6E8A-4147-A177-3AD203B41FA5}">
                      <a16:colId xmlns:a16="http://schemas.microsoft.com/office/drawing/2014/main" val="298292117"/>
                    </a:ext>
                  </a:extLst>
                </a:gridCol>
                <a:gridCol w="1551261">
                  <a:extLst>
                    <a:ext uri="{9D8B030D-6E8A-4147-A177-3AD203B41FA5}">
                      <a16:colId xmlns:a16="http://schemas.microsoft.com/office/drawing/2014/main" val="1886644351"/>
                    </a:ext>
                  </a:extLst>
                </a:gridCol>
                <a:gridCol w="1269211">
                  <a:extLst>
                    <a:ext uri="{9D8B030D-6E8A-4147-A177-3AD203B41FA5}">
                      <a16:colId xmlns:a16="http://schemas.microsoft.com/office/drawing/2014/main" val="1519064168"/>
                    </a:ext>
                  </a:extLst>
                </a:gridCol>
              </a:tblGrid>
              <a:tr h="5341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loan_id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book_id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member_id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loan_date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due_date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return_date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IN" sz="2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023043"/>
                  </a:ext>
                </a:extLst>
              </a:tr>
              <a:tr h="5341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2024-07-01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2024-07-15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2024-07-13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Returned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371020"/>
                  </a:ext>
                </a:extLst>
              </a:tr>
              <a:tr h="5341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2024-07-10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2024-07-24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193283"/>
                  </a:ext>
                </a:extLst>
              </a:tr>
              <a:tr h="5341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2024-07-20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2024-08-03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2024-08-10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Returned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85428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4A79D6F-118D-A776-ECF8-056D7B6C1B2A}"/>
              </a:ext>
            </a:extLst>
          </p:cNvPr>
          <p:cNvSpPr txBox="1"/>
          <p:nvPr/>
        </p:nvSpPr>
        <p:spPr>
          <a:xfrm>
            <a:off x="353854" y="1018313"/>
            <a:ext cx="1488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Table: Book</a:t>
            </a:r>
            <a:endParaRPr lang="en-US" altLang="en-US" b="1" dirty="0">
              <a:solidFill>
                <a:srgbClr val="1F4D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94F928-EC26-73E9-BD31-30DCDAEC2D6D}"/>
              </a:ext>
            </a:extLst>
          </p:cNvPr>
          <p:cNvSpPr txBox="1"/>
          <p:nvPr/>
        </p:nvSpPr>
        <p:spPr>
          <a:xfrm>
            <a:off x="379502" y="4004531"/>
            <a:ext cx="1462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Table: Loan</a:t>
            </a:r>
            <a:endParaRPr lang="en-US" altLang="en-US" b="1" dirty="0">
              <a:solidFill>
                <a:srgbClr val="1F4D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454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D14195-D07D-EBD1-0945-E017C5BB6932}"/>
              </a:ext>
            </a:extLst>
          </p:cNvPr>
          <p:cNvSpPr txBox="1"/>
          <p:nvPr/>
        </p:nvSpPr>
        <p:spPr>
          <a:xfrm>
            <a:off x="2905699" y="524774"/>
            <a:ext cx="609783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DDL, DML &amp; DQL OPERATIONS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5ED7DB3D-4654-0C6A-9C0F-715F9AB3993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7B3225C-FAC3-DE84-1F41-B9755BCD173C}"/>
              </a:ext>
            </a:extLst>
          </p:cNvPr>
          <p:cNvSpPr/>
          <p:nvPr/>
        </p:nvSpPr>
        <p:spPr>
          <a:xfrm>
            <a:off x="609600" y="1708804"/>
            <a:ext cx="5486400" cy="4996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spcBef>
                <a:spcPts val="200"/>
              </a:spcBef>
              <a:spcAft>
                <a:spcPts val="200"/>
              </a:spcAft>
            </a:pPr>
            <a:endParaRPr lang="en-US" sz="1600" dirty="0">
              <a:effectLst/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endParaRPr lang="en-US" sz="1600" dirty="0">
              <a:effectLst/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CREATE TABLE Publisher (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600" dirty="0" err="1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publisher_id</a:t>
            </a: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INT  GENERATED ALWAYS AS IDENTITY PRIMARY KEY,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600" dirty="0" err="1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publisher_name</a:t>
            </a: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VARCHAR(100)  NOT NULL,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country           VARCHAR(50),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website           VARCHAR(200)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);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endParaRPr lang="en-US" sz="1600" dirty="0">
              <a:effectLst/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CREATE TABLE Author (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600" dirty="0" err="1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author_id</a:t>
            </a: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  INT  GENERATED ALWAYS AS IDENTITY PRIMARY KEY,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600" dirty="0" err="1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first_name</a:t>
            </a: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 VARCHAR(50),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600" dirty="0" err="1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last_name</a:t>
            </a: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  VARCHAR(50),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nationality      VARCHAR(50)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);</a:t>
            </a:r>
            <a:endParaRPr lang="en-IN" sz="1600" dirty="0">
              <a:effectLst/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3B79FE-E688-5A9A-A0FE-98503B0A7756}"/>
              </a:ext>
            </a:extLst>
          </p:cNvPr>
          <p:cNvSpPr/>
          <p:nvPr/>
        </p:nvSpPr>
        <p:spPr>
          <a:xfrm>
            <a:off x="755257" y="1278826"/>
            <a:ext cx="71302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DDL – Data Definition Language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Used to create and modify database structures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0A9F37-EC3F-F325-A864-01493D8D331E}"/>
              </a:ext>
            </a:extLst>
          </p:cNvPr>
          <p:cNvSpPr/>
          <p:nvPr/>
        </p:nvSpPr>
        <p:spPr>
          <a:xfrm>
            <a:off x="6096000" y="2802319"/>
            <a:ext cx="5029200" cy="3559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CREATE TABLE Book (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600" dirty="0" err="1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book_id</a:t>
            </a: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    INT   GENERATED ALWAYS AS IDENTITY PRIMARY KEY,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title            VARCHAR(200)  NOT NULL,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600" dirty="0" err="1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isbn</a:t>
            </a: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     VARCHAR(20)  UNIQUE  NOT  NULL,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600" dirty="0" err="1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total_copies</a:t>
            </a: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INT  DEFAULT 1,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genre            VARCHAR(50),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600" dirty="0" err="1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publication_year</a:t>
            </a: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INT,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600" dirty="0" err="1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publisher_id</a:t>
            </a: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INT,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FOREIGN KEY (</a:t>
            </a:r>
            <a:r>
              <a:rPr lang="en-US" sz="1600" dirty="0" err="1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publisher_id</a:t>
            </a: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REFERENCES Publisher(</a:t>
            </a:r>
            <a:r>
              <a:rPr lang="en-US" sz="1600" dirty="0" err="1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publisher_id</a:t>
            </a: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</a:t>
            </a:r>
          </a:p>
          <a:p>
            <a:pPr marL="228600"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effectLst/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95477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44C963CD-D5CE-AA27-8E15-EFE3EA85B7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1A70E2A-B0AE-E55A-BECF-1D28E0869482}"/>
              </a:ext>
            </a:extLst>
          </p:cNvPr>
          <p:cNvSpPr/>
          <p:nvPr/>
        </p:nvSpPr>
        <p:spPr>
          <a:xfrm>
            <a:off x="5459279" y="1015094"/>
            <a:ext cx="51054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CREATE TABLE Fine (</a:t>
            </a:r>
          </a:p>
          <a:p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IN" sz="16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fine_id</a:t>
            </a:r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  INT   GENERATED ALWAYS AS IDENTITY PRIMARY KEY,</a:t>
            </a:r>
          </a:p>
          <a:p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IN" sz="16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loan_id</a:t>
            </a:r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  INT UNIQUE  NOT NULL,</a:t>
            </a:r>
          </a:p>
          <a:p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IN" sz="16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member_id</a:t>
            </a:r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INT NOT NULL,</a:t>
            </a:r>
          </a:p>
          <a:p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IN" sz="16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fine_amount</a:t>
            </a:r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DECIMAL(8,2) CHECK (</a:t>
            </a:r>
            <a:r>
              <a:rPr lang="en-IN" sz="16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fine_amount</a:t>
            </a:r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&gt;= 0),</a:t>
            </a:r>
          </a:p>
          <a:p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IN" sz="16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fine_date</a:t>
            </a:r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DATE,</a:t>
            </a:r>
          </a:p>
          <a:p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IN" sz="16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payment_status</a:t>
            </a:r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VARCHAR(20) DEFAULT 'Unpaid',</a:t>
            </a:r>
          </a:p>
          <a:p>
            <a:endParaRPr lang="en-IN" sz="1600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  <a:p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FOREIGN KEY (</a:t>
            </a:r>
            <a:r>
              <a:rPr lang="en-IN" sz="16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loan_id</a:t>
            </a:r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</a:t>
            </a:r>
          </a:p>
          <a:p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REFERENCES Loan(</a:t>
            </a:r>
            <a:r>
              <a:rPr lang="en-IN" sz="16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loan_id</a:t>
            </a:r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),</a:t>
            </a:r>
          </a:p>
          <a:p>
            <a:endParaRPr lang="en-IN" sz="1600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  <a:p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FOREIGN KEY (</a:t>
            </a:r>
            <a:r>
              <a:rPr lang="en-IN" sz="16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member_id</a:t>
            </a:r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</a:t>
            </a:r>
          </a:p>
          <a:p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REFERENCES Member(</a:t>
            </a:r>
            <a:r>
              <a:rPr lang="en-IN" sz="16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member_id</a:t>
            </a:r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</a:t>
            </a:r>
          </a:p>
          <a:p>
            <a:r>
              <a:rPr lang="en-IN" sz="1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);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A38063B-05C1-4370-0777-6221C2C57BC5}"/>
              </a:ext>
            </a:extLst>
          </p:cNvPr>
          <p:cNvSpPr txBox="1">
            <a:spLocks/>
          </p:cNvSpPr>
          <p:nvPr/>
        </p:nvSpPr>
        <p:spPr>
          <a:xfrm>
            <a:off x="506278" y="795734"/>
            <a:ext cx="4953001" cy="59093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CREATE TABLE Member (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member_id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   INT   GENERATED ALWAYS AS IDENTITY PRIMARY KEY,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first_name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  VARCHAR(50)  NOT NULL,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last_name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   VARCHAR(50)  NOT NULL,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email             VARCHAR(100) UNIQUE,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membership_type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VARCHAR(30),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membership_date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DATE,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membership_expiry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DATE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);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CREATE TABLE Loan (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loan_id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 INT  GENERATED ALWAYS AS IDENTITY PRIMARY KEY,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book_id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 INT   NOT NULL,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member_id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INT   NOT NULL,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loan_date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DATE  NOT NULL,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due_date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DATE  NOT NULL,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return_date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DATE,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status        VARCHAR(20) DEFAULT 'Active',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FOREIGN KEY (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book_id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REFERENCES Book(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book_id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),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FOREIGN KEY (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member_id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REFERENCES Member(</a:t>
            </a:r>
            <a:r>
              <a:rPr lang="en-US" sz="1100" dirty="0" err="1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member_id</a:t>
            </a:r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</a:t>
            </a:r>
          </a:p>
          <a:p>
            <a:r>
              <a:rPr lang="en-US" sz="11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);</a:t>
            </a:r>
            <a:endParaRPr lang="en-IN" sz="1100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D759B5-CE52-09A8-14A2-B940F2D85796}"/>
              </a:ext>
            </a:extLst>
          </p:cNvPr>
          <p:cNvSpPr txBox="1"/>
          <p:nvPr/>
        </p:nvSpPr>
        <p:spPr>
          <a:xfrm>
            <a:off x="3194981" y="146407"/>
            <a:ext cx="58020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DDL, DML &amp; DQL OPERATIONS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0883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286F1F42-CAF5-1E98-C340-EBD5249F3DC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D97DCD-2BCA-8D73-789C-526EFBD468E3}"/>
              </a:ext>
            </a:extLst>
          </p:cNvPr>
          <p:cNvSpPr txBox="1"/>
          <p:nvPr/>
        </p:nvSpPr>
        <p:spPr>
          <a:xfrm>
            <a:off x="4215539" y="152956"/>
            <a:ext cx="58020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DDL, DML &amp; DQL OPERATIONS</a:t>
            </a:r>
          </a:p>
          <a:p>
            <a:endParaRPr lang="en-IN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048F956-1ED1-2989-42C8-FA909670F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964505"/>
            <a:ext cx="9829800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DML (Data Manipulation Language)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Used to insert, update, and delete data in the tables.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Member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email,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membership_type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VALUES (1, 'Kavya', 'A', 'kavya@gmail.com', 'Student');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Member SET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membership_type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'Faculty' WHERE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Member WHERE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57CA873-3FD0-4C46-1587-4929337BA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48" y="4241899"/>
            <a:ext cx="9498724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DQL (Data Query Language)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retrieve data from the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SELECT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Book;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SELECT with condition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title, genre FROM Book WHERE genre = 'Technology';</a:t>
            </a:r>
          </a:p>
        </p:txBody>
      </p:sp>
    </p:spTree>
    <p:extLst>
      <p:ext uri="{BB962C8B-B14F-4D97-AF65-F5344CB8AC3E}">
        <p14:creationId xmlns:p14="http://schemas.microsoft.com/office/powerpoint/2010/main" val="1933089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68D5C-88DC-47FB-F72E-FE205A4F2C6B}"/>
              </a:ext>
            </a:extLst>
          </p:cNvPr>
          <p:cNvSpPr txBox="1"/>
          <p:nvPr/>
        </p:nvSpPr>
        <p:spPr>
          <a:xfrm>
            <a:off x="2992400" y="132202"/>
            <a:ext cx="68167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CRUD OPERATIONS &amp; SQL QUERIES</a:t>
            </a:r>
          </a:p>
          <a:p>
            <a:endParaRPr lang="en-IN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F438C16E-21C9-EB15-5562-B7AE291E4D6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C92FE9FE-3B61-AD7A-6641-49420D1C1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999" y="739288"/>
            <a:ext cx="5638801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CRUD Operations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 – Insert new data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INSERT INTO Book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book_id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, title,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isbn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total_copies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, genre) VALUES (4, 'Python Basics', '9781234567890', 3, 'Technology');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READ – View data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SELECT * FROM Book;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UPDATE – Modify data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UPDATE Book SET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total_copies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= 5 WHERE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book_id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= 4;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DELETE – Remove data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DELETE FROM Book WHERE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book_id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= 4;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09FFD4B-E6E1-0577-3AA6-F24CC134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999" y="4259996"/>
            <a:ext cx="550045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Join Query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Member.first_name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Book.title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FROM Member JOIN Loan 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Member.member_id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Loan.member_id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JOIN Book 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Loan.book_id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Book.book_id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Aggregate Function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SELECT COUNT(*) AS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total_books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FROM Book;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1A82D74F-AB0E-676D-86A3-325EC80BD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1218" y="1066660"/>
            <a:ext cx="4419599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CREATE VIEW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Loan_Details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AS SELECT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l.loan_id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m.first_name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b.title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l.loan_date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l.due_date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l.status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FROM Loan l JOIN Member m 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l.member_id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m.member_id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JOIN Book b 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l.book_id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b.book_id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CCF56F3F-EE2E-D859-C1B9-224B17E34C8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81218" y="3429000"/>
            <a:ext cx="4405546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Other SQL Query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SELECT title,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total_copies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FROM Book WHERE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total_copies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&gt; 2 ORDER BY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total_copies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  <a:cs typeface="Times New Roman" panose="02020603050405020304" pitchFamily="18" charset="0"/>
              </a:rPr>
              <a:t> DESC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58B5C9-52F8-BD93-8FCA-5A9FD8DB6A76}"/>
              </a:ext>
            </a:extLst>
          </p:cNvPr>
          <p:cNvSpPr/>
          <p:nvPr/>
        </p:nvSpPr>
        <p:spPr>
          <a:xfrm>
            <a:off x="6967165" y="5090993"/>
            <a:ext cx="44195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tx1"/>
                </a:solidFill>
                <a:latin typeface="Bahnschrift SemiCondensed" panose="020B0502040204020203" pitchFamily="34" charset="0"/>
                <a:cs typeface="Arial" panose="020B0604020202020204" pitchFamily="34" charset="0"/>
              </a:rPr>
              <a:t>CRUD operations, Joins, Aggregate Functions, Views, and filtering/sorting queries are</a:t>
            </a:r>
          </a:p>
          <a:p>
            <a:r>
              <a:rPr lang="en-IN" sz="2000" b="1" dirty="0">
                <a:solidFill>
                  <a:schemeClr val="tx1"/>
                </a:solidFill>
                <a:latin typeface="Bahnschrift SemiCondensed" panose="020B0502040204020203" pitchFamily="34" charset="0"/>
                <a:cs typeface="Arial" panose="020B0604020202020204" pitchFamily="34" charset="0"/>
              </a:rPr>
              <a:t>      implemented to demonstrate                     </a:t>
            </a:r>
          </a:p>
          <a:p>
            <a:r>
              <a:rPr lang="en-US" sz="2000" b="1" dirty="0">
                <a:solidFill>
                  <a:schemeClr val="tx1"/>
                </a:solidFill>
                <a:latin typeface="Bahnschrift SemiCondensed" panose="020B0502040204020203" pitchFamily="34" charset="0"/>
                <a:cs typeface="Arial" panose="020B0604020202020204" pitchFamily="34" charset="0"/>
              </a:rPr>
              <a:t>      </a:t>
            </a:r>
            <a:r>
              <a:rPr lang="en-IN" sz="2000" b="1" dirty="0">
                <a:solidFill>
                  <a:schemeClr val="tx1"/>
                </a:solidFill>
                <a:latin typeface="Bahnschrift SemiCondensed" panose="020B0502040204020203" pitchFamily="34" charset="0"/>
                <a:cs typeface="Arial" panose="020B0604020202020204" pitchFamily="34" charset="0"/>
              </a:rPr>
              <a:t>database functionality.</a:t>
            </a:r>
            <a:endParaRPr lang="en-IN" sz="2000" dirty="0">
              <a:solidFill>
                <a:schemeClr val="tx1"/>
              </a:solidFill>
              <a:latin typeface="Bahnschrift SemiCondensed" panose="020B0502040204020203" pitchFamily="34" charset="0"/>
              <a:cs typeface="Arial" panose="020B0604020202020204" pitchFamily="34" charset="0"/>
            </a:endParaRPr>
          </a:p>
          <a:p>
            <a:endParaRPr lang="en-IN" sz="2000" dirty="0">
              <a:solidFill>
                <a:schemeClr val="tx1"/>
              </a:solidFill>
              <a:latin typeface="Bahnschrift SemiCondensed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897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F5F50722-529E-F81E-E6AA-C6D27BA1747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3B451E-6016-0BE4-BD32-5F611086FEFF}"/>
              </a:ext>
            </a:extLst>
          </p:cNvPr>
          <p:cNvSpPr txBox="1"/>
          <p:nvPr/>
        </p:nvSpPr>
        <p:spPr>
          <a:xfrm>
            <a:off x="3437264" y="240239"/>
            <a:ext cx="59128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DATA INTEGRITY &amp; VALIDATION</a:t>
            </a:r>
          </a:p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AE34DC-530E-CCBA-4A31-885E4F70A503}"/>
              </a:ext>
            </a:extLst>
          </p:cNvPr>
          <p:cNvSpPr/>
          <p:nvPr/>
        </p:nvSpPr>
        <p:spPr>
          <a:xfrm>
            <a:off x="290750" y="892966"/>
            <a:ext cx="5461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 Integrity &amp; Validation Rules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3103BAF-2D03-2EB7-0423-8415726E5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263663"/>
              </p:ext>
            </p:extLst>
          </p:nvPr>
        </p:nvGraphicFramePr>
        <p:xfrm>
          <a:off x="576439" y="1317058"/>
          <a:ext cx="11039121" cy="32241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9866">
                  <a:extLst>
                    <a:ext uri="{9D8B030D-6E8A-4147-A177-3AD203B41FA5}">
                      <a16:colId xmlns:a16="http://schemas.microsoft.com/office/drawing/2014/main" val="3870413286"/>
                    </a:ext>
                  </a:extLst>
                </a:gridCol>
                <a:gridCol w="7509255">
                  <a:extLst>
                    <a:ext uri="{9D8B030D-6E8A-4147-A177-3AD203B41FA5}">
                      <a16:colId xmlns:a16="http://schemas.microsoft.com/office/drawing/2014/main" val="4044305308"/>
                    </a:ext>
                  </a:extLst>
                </a:gridCol>
              </a:tblGrid>
              <a:tr h="2845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Implementation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904402"/>
                  </a:ext>
                </a:extLst>
              </a:tr>
              <a:tr h="2845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duplicate IDs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AUTO_INCREMENT PKs ensure uniqueness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8254917"/>
                  </a:ext>
                </a:extLst>
              </a:tr>
              <a:tr h="2845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duplicate emails/codes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UNIQUE constraints on email, </a:t>
                      </a: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course_code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ISBN etc.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1349595"/>
                  </a:ext>
                </a:extLst>
              </a:tr>
              <a:tr h="2845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 range checks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CHECK constraints on marks, credits, quantity, rating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5299403"/>
                  </a:ext>
                </a:extLst>
              </a:tr>
              <a:tr h="5691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Referential integrity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FOREIGN KEY constraints with ON DELETE / UPDATE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IN" sz="1800" b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rules.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0762201"/>
                  </a:ext>
                </a:extLst>
              </a:tr>
              <a:tr h="43516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Non-null required fields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NOT NULL on all mandatory columns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6165746"/>
                  </a:ext>
                </a:extLst>
              </a:tr>
              <a:tr h="43715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orphan records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FK relationships prevent insertion without parent record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2620466"/>
                  </a:ext>
                </a:extLst>
              </a:tr>
              <a:tr h="52299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data redundancy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Normalization to 3NF; derived fields computed, not stored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7496913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1ECB9304-4030-C955-1BAF-8CA38D180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750" y="4541165"/>
            <a:ext cx="969670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Through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PRIMARY KEY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Ensures each record has a unique ID.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FOREIGN KEY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nsures valid relationships between tables.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 Prevents required fields from being empty.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UNIQUE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Prevents duplicate values such as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isbn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email.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Ensures valid values, e.g.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fine_amount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&gt;= 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DEFAULT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 Automatically assigns valid default values such as Active and Unpaid.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73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39CD4728-781F-F1D3-B682-299D676BFB3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9381C9-DBD2-08A4-F206-2A5BCCEAB03A}"/>
              </a:ext>
            </a:extLst>
          </p:cNvPr>
          <p:cNvSpPr txBox="1"/>
          <p:nvPr/>
        </p:nvSpPr>
        <p:spPr>
          <a:xfrm>
            <a:off x="3092329" y="248859"/>
            <a:ext cx="637847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AGGREGATE FUNCTIONS &amp; JOINS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01061-BFF2-0B04-AF37-74E5050CDF31}"/>
              </a:ext>
            </a:extLst>
          </p:cNvPr>
          <p:cNvSpPr txBox="1"/>
          <p:nvPr/>
        </p:nvSpPr>
        <p:spPr>
          <a:xfrm>
            <a:off x="385587" y="2361824"/>
            <a:ext cx="502272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-- COUNT</a:t>
            </a:r>
          </a:p>
          <a:p>
            <a:r>
              <a:rPr lang="en-US" dirty="0"/>
              <a:t>SELECT COUNT(*) AS </a:t>
            </a:r>
            <a:r>
              <a:rPr lang="en-US" dirty="0" err="1"/>
              <a:t>total_books</a:t>
            </a:r>
            <a:endParaRPr lang="en-US" dirty="0"/>
          </a:p>
          <a:p>
            <a:r>
              <a:rPr lang="en-US" dirty="0"/>
              <a:t>FROM Book;</a:t>
            </a:r>
          </a:p>
          <a:p>
            <a:endParaRPr lang="en-US" dirty="0"/>
          </a:p>
          <a:p>
            <a:r>
              <a:rPr lang="en-US" dirty="0"/>
              <a:t>-- SUM</a:t>
            </a:r>
          </a:p>
          <a:p>
            <a:r>
              <a:rPr lang="en-US" dirty="0"/>
              <a:t>SELECT SUM(</a:t>
            </a:r>
            <a:r>
              <a:rPr lang="en-US" dirty="0" err="1"/>
              <a:t>total_copies</a:t>
            </a:r>
            <a:r>
              <a:rPr lang="en-US" dirty="0"/>
              <a:t>) AS </a:t>
            </a:r>
            <a:r>
              <a:rPr lang="en-US" dirty="0" err="1"/>
              <a:t>total_book_copies</a:t>
            </a:r>
            <a:endParaRPr lang="en-US" dirty="0"/>
          </a:p>
          <a:p>
            <a:r>
              <a:rPr lang="en-US" dirty="0"/>
              <a:t>FROM Book;</a:t>
            </a:r>
          </a:p>
          <a:p>
            <a:endParaRPr lang="en-US" dirty="0"/>
          </a:p>
          <a:p>
            <a:r>
              <a:rPr lang="en-US" dirty="0"/>
              <a:t>-- AVG</a:t>
            </a:r>
          </a:p>
          <a:p>
            <a:r>
              <a:rPr lang="en-US" dirty="0"/>
              <a:t>SELECT AVG(</a:t>
            </a:r>
            <a:r>
              <a:rPr lang="en-US" dirty="0" err="1"/>
              <a:t>total_copies</a:t>
            </a:r>
            <a:r>
              <a:rPr lang="en-US" dirty="0"/>
              <a:t>) AS </a:t>
            </a:r>
            <a:r>
              <a:rPr lang="en-US" dirty="0" err="1"/>
              <a:t>average_copies</a:t>
            </a:r>
            <a:endParaRPr lang="en-US" dirty="0"/>
          </a:p>
          <a:p>
            <a:r>
              <a:rPr lang="en-US" dirty="0"/>
              <a:t>FROM Book;</a:t>
            </a:r>
          </a:p>
          <a:p>
            <a:endParaRPr lang="en-US" dirty="0"/>
          </a:p>
          <a:p>
            <a:r>
              <a:rPr lang="en-US" dirty="0"/>
              <a:t>-- SUM of Fines</a:t>
            </a:r>
          </a:p>
          <a:p>
            <a:r>
              <a:rPr lang="en-US" dirty="0"/>
              <a:t>SELECT SUM(</a:t>
            </a:r>
            <a:r>
              <a:rPr lang="en-US" dirty="0" err="1"/>
              <a:t>fine_amount</a:t>
            </a:r>
            <a:r>
              <a:rPr lang="en-US" dirty="0"/>
              <a:t>) AS </a:t>
            </a:r>
            <a:r>
              <a:rPr lang="en-US" dirty="0" err="1"/>
              <a:t>total_fine</a:t>
            </a:r>
            <a:endParaRPr lang="en-US" dirty="0"/>
          </a:p>
          <a:p>
            <a:r>
              <a:rPr lang="en-US" dirty="0"/>
              <a:t>FROM Fine;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7B491-CBAA-E21F-25B2-1F1A0E02460D}"/>
              </a:ext>
            </a:extLst>
          </p:cNvPr>
          <p:cNvSpPr txBox="1"/>
          <p:nvPr/>
        </p:nvSpPr>
        <p:spPr>
          <a:xfrm>
            <a:off x="528357" y="776326"/>
            <a:ext cx="2563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Aggregate Functions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7D9CDC-AA9B-1A03-1E61-0BD94CD92EB5}"/>
              </a:ext>
            </a:extLst>
          </p:cNvPr>
          <p:cNvSpPr txBox="1"/>
          <p:nvPr/>
        </p:nvSpPr>
        <p:spPr>
          <a:xfrm>
            <a:off x="7096905" y="3124200"/>
            <a:ext cx="467121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    </a:t>
            </a:r>
            <a:r>
              <a:rPr lang="en-US" dirty="0" err="1"/>
              <a:t>Member.first_name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Book.title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Loan.loan_date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Loan.due_date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Loan.status</a:t>
            </a:r>
            <a:endParaRPr lang="en-US" dirty="0"/>
          </a:p>
          <a:p>
            <a:r>
              <a:rPr lang="en-US" dirty="0"/>
              <a:t>FROM Member</a:t>
            </a:r>
          </a:p>
          <a:p>
            <a:r>
              <a:rPr lang="en-US" dirty="0"/>
              <a:t>JOIN Loan</a:t>
            </a:r>
          </a:p>
          <a:p>
            <a:r>
              <a:rPr lang="en-US" dirty="0"/>
              <a:t>    ON </a:t>
            </a:r>
            <a:r>
              <a:rPr lang="en-US" dirty="0" err="1"/>
              <a:t>Member.member_id</a:t>
            </a:r>
            <a:r>
              <a:rPr lang="en-US" dirty="0"/>
              <a:t> = </a:t>
            </a:r>
            <a:r>
              <a:rPr lang="en-US" dirty="0" err="1"/>
              <a:t>Loan.member_id</a:t>
            </a:r>
            <a:endParaRPr lang="en-US" dirty="0"/>
          </a:p>
          <a:p>
            <a:r>
              <a:rPr lang="en-US" dirty="0"/>
              <a:t>JOIN Book</a:t>
            </a:r>
          </a:p>
          <a:p>
            <a:r>
              <a:rPr lang="en-US" dirty="0"/>
              <a:t>    ON </a:t>
            </a:r>
            <a:r>
              <a:rPr lang="en-US" dirty="0" err="1"/>
              <a:t>Loan.book_id</a:t>
            </a:r>
            <a:r>
              <a:rPr lang="en-US" dirty="0"/>
              <a:t> = </a:t>
            </a:r>
            <a:r>
              <a:rPr lang="en-US" dirty="0" err="1"/>
              <a:t>Book.book_id</a:t>
            </a:r>
            <a:r>
              <a:rPr lang="en-US" dirty="0"/>
              <a:t>;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3A3548-3079-3E59-9D25-BEFE8D56050B}"/>
              </a:ext>
            </a:extLst>
          </p:cNvPr>
          <p:cNvSpPr txBox="1"/>
          <p:nvPr/>
        </p:nvSpPr>
        <p:spPr>
          <a:xfrm>
            <a:off x="7135198" y="1272539"/>
            <a:ext cx="4230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JOIN Query – Member, Loan &amp; Book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8E740-422E-1BB4-6111-6CA03D5C0353}"/>
              </a:ext>
            </a:extLst>
          </p:cNvPr>
          <p:cNvSpPr txBox="1"/>
          <p:nvPr/>
        </p:nvSpPr>
        <p:spPr>
          <a:xfrm>
            <a:off x="7096905" y="1769703"/>
            <a:ext cx="4747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Purpose:</a:t>
            </a:r>
            <a:br>
              <a:rPr lang="en-IN" dirty="0"/>
            </a:br>
            <a:r>
              <a:rPr lang="en-IN" dirty="0"/>
              <a:t>Displays </a:t>
            </a:r>
            <a:r>
              <a:rPr lang="en-IN" b="1" dirty="0"/>
              <a:t>which member borrowed which book</a:t>
            </a:r>
            <a:r>
              <a:rPr lang="en-IN" dirty="0"/>
              <a:t>, along with the </a:t>
            </a:r>
            <a:r>
              <a:rPr lang="en-IN" b="1" dirty="0"/>
              <a:t>loan date, due date, and loan status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61EDA-6333-AF3E-1CBC-74C071DEB61B}"/>
              </a:ext>
            </a:extLst>
          </p:cNvPr>
          <p:cNvSpPr txBox="1"/>
          <p:nvPr/>
        </p:nvSpPr>
        <p:spPr>
          <a:xfrm>
            <a:off x="528357" y="1272539"/>
            <a:ext cx="5022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 aggregate function is a SQL function that performs a calculation on a group of rows and returns a single value as the result.</a:t>
            </a:r>
          </a:p>
        </p:txBody>
      </p:sp>
    </p:spTree>
    <p:extLst>
      <p:ext uri="{BB962C8B-B14F-4D97-AF65-F5344CB8AC3E}">
        <p14:creationId xmlns:p14="http://schemas.microsoft.com/office/powerpoint/2010/main" val="1801509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292954-1011-B6E8-C7BB-B57B3D94D224}"/>
              </a:ext>
            </a:extLst>
          </p:cNvPr>
          <p:cNvSpPr txBox="1"/>
          <p:nvPr/>
        </p:nvSpPr>
        <p:spPr>
          <a:xfrm>
            <a:off x="1120965" y="1011178"/>
            <a:ext cx="609783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/>
              <a:t>The project documentation contains: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Abstract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Introduction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Problem Statement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Objectives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Entity and Attributes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ER Diagram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Relationships and Cardinality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Relational Schema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Primary and Foreign Keys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Database Tables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Constraints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Sample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DDL Operations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DML Operations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DQL Queries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CRUD Operations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Aggregate Functions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JOIN Queries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Views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Data Integrity and Validation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Screenshots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GitHub Repository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Team Responsibilities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Conclusion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References 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E1A73E81-DB71-BCA0-6DA8-D56EF543B88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89213A-E8A7-3E82-1C70-5F6883DE5648}"/>
              </a:ext>
            </a:extLst>
          </p:cNvPr>
          <p:cNvSpPr txBox="1"/>
          <p:nvPr/>
        </p:nvSpPr>
        <p:spPr>
          <a:xfrm>
            <a:off x="4309430" y="365125"/>
            <a:ext cx="53203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PROJECT DOCUMENTATION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6074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080A71FD-DAD2-43FC-17F7-76EF3B149D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542454-9B57-B9D8-F5BD-FF25DC647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106038"/>
              </p:ext>
            </p:extLst>
          </p:nvPr>
        </p:nvGraphicFramePr>
        <p:xfrm>
          <a:off x="755257" y="577294"/>
          <a:ext cx="1051560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481272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511149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Team 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Responsibility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392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THUTA RISHIKA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 Diagram and Database Schema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642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VANTAPATI DEEPIKA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DDL – Table Creation and Constraint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561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UNGARALA DHARANI TEJASWINI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DML, CRUD Operations, Joins and Aggregate Functions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8523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MEKALA CHANDRA SEKHAR REDDY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Documentation and Screenshots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9232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DDDACC6-3C53-86A8-485B-63BD42EAF516}"/>
              </a:ext>
            </a:extLst>
          </p:cNvPr>
          <p:cNvSpPr txBox="1"/>
          <p:nvPr/>
        </p:nvSpPr>
        <p:spPr>
          <a:xfrm>
            <a:off x="755257" y="3695383"/>
            <a:ext cx="60978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GITHUB &amp; TEAM RESPONSIBILITIES</a:t>
            </a:r>
          </a:p>
          <a:p>
            <a:pPr>
              <a:buNone/>
            </a:pPr>
            <a:r>
              <a:rPr lang="en-IN" b="1" dirty="0"/>
              <a:t>GitHub Repository</a:t>
            </a:r>
          </a:p>
          <a:p>
            <a:pPr>
              <a:buNone/>
            </a:pPr>
            <a:r>
              <a:rPr lang="en-IN" b="1" dirty="0"/>
              <a:t>Smart Library Management System</a:t>
            </a:r>
            <a:endParaRPr lang="en-IN" dirty="0"/>
          </a:p>
          <a:p>
            <a:pPr>
              <a:buNone/>
            </a:pPr>
            <a:r>
              <a:rPr lang="en-IN" dirty="0"/>
              <a:t>Repository:</a:t>
            </a:r>
          </a:p>
          <a:p>
            <a:pPr>
              <a:buNone/>
            </a:pPr>
            <a:r>
              <a:rPr lang="en-IN" dirty="0">
                <a:hlinkClick r:id="rId3"/>
              </a:rPr>
              <a:t>https://github.com/rishika1527-stack/Library-management-system-</a:t>
            </a:r>
            <a:r>
              <a:rPr lang="en-IN" dirty="0" err="1">
                <a:hlinkClick r:id="rId3"/>
              </a:rPr>
              <a:t>dbms</a:t>
            </a:r>
            <a:r>
              <a:rPr lang="en-IN" dirty="0">
                <a:hlinkClick r:id="rId3"/>
              </a:rPr>
              <a:t>..git</a:t>
            </a:r>
            <a:endParaRPr lang="en-IN" dirty="0"/>
          </a:p>
          <a:p>
            <a:pPr>
              <a:buNone/>
            </a:pPr>
            <a:endParaRPr lang="en-IN"/>
          </a:p>
          <a:p>
            <a:pPr>
              <a:buNone/>
            </a:pPr>
            <a:r>
              <a:rPr lang="en-IN"/>
              <a:t>Adjust </a:t>
            </a:r>
            <a:r>
              <a:rPr lang="en-IN" dirty="0"/>
              <a:t>these assignments if your actual team work is different.</a:t>
            </a:r>
          </a:p>
        </p:txBody>
      </p:sp>
    </p:spTree>
    <p:extLst>
      <p:ext uri="{BB962C8B-B14F-4D97-AF65-F5344CB8AC3E}">
        <p14:creationId xmlns:p14="http://schemas.microsoft.com/office/powerpoint/2010/main" val="2593223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7DD35476-9959-CA39-52A8-96200170B5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A8E820-6D5E-B97C-77FE-D93CAAEDA3A7}"/>
              </a:ext>
            </a:extLst>
          </p:cNvPr>
          <p:cNvSpPr txBox="1"/>
          <p:nvPr/>
        </p:nvSpPr>
        <p:spPr>
          <a:xfrm>
            <a:off x="4494882" y="231354"/>
            <a:ext cx="281442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CONCLUSION</a:t>
            </a:r>
          </a:p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479C07-86B7-094C-80FE-EDA4254F0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756" y="662241"/>
            <a:ext cx="9005650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Library Management System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manage books, authors, publishers, members, loans, and fines.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the database using 7 relational tables with primary keys and foreign keys.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constraints such as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PRIMARY KEY, FOREIGN KEY, UNIQUE, NOT NULL, DEFAULT, and CHECK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maintain data integrity.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JOINs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aggregate functions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views, filtering, and sorting queries.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how to design an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ER model, relational schema, normalized database, and SQL queries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Future Enhancements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Add book reservations, automated fine calculation, due-date notifications, and a user-friendly application interface.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DDL, DML, and DQL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operations for database creation, data manipulation, and data retrieval. </a:t>
            </a:r>
          </a:p>
        </p:txBody>
      </p:sp>
    </p:spTree>
    <p:extLst>
      <p:ext uri="{BB962C8B-B14F-4D97-AF65-F5344CB8AC3E}">
        <p14:creationId xmlns:p14="http://schemas.microsoft.com/office/powerpoint/2010/main" val="376159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FD655-7868-CA29-E7D2-5457C869E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266" y="365125"/>
            <a:ext cx="7484533" cy="6044142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THANK YOU</a:t>
            </a:r>
            <a:endParaRPr lang="en-IN" b="1" dirty="0">
              <a:solidFill>
                <a:schemeClr val="accent2"/>
              </a:solidFill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EBF0D5F9-2457-0246-6908-7465943C62C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56" y="152956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31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3024</TotalTime>
  <Words>2919</Words>
  <Application>Microsoft Office PowerPoint</Application>
  <PresentationFormat>Widescreen</PresentationFormat>
  <Paragraphs>630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 Unicode MS</vt:lpstr>
      <vt:lpstr>Aptos</vt:lpstr>
      <vt:lpstr>Aptos Display</vt:lpstr>
      <vt:lpstr>Arial</vt:lpstr>
      <vt:lpstr>Artifakt Element Black</vt:lpstr>
      <vt:lpstr>Bahnschrift SemiCondensed</vt:lpstr>
      <vt:lpstr>Times New Roman</vt:lpstr>
      <vt:lpstr>Wingdings</vt:lpstr>
      <vt:lpstr>Office Theme</vt:lpstr>
      <vt:lpstr>Database Management Systems Cornerstone Project Final Review (Review I &amp; II)</vt:lpstr>
      <vt:lpstr>PRESENTATION OUTLINE</vt:lpstr>
      <vt:lpstr>ABSTRACT</vt:lpstr>
      <vt:lpstr>INTRADUCTION</vt:lpstr>
      <vt:lpstr>PROBLEM STATEMENTS</vt:lpstr>
      <vt:lpstr>OBJECTIVES</vt:lpstr>
      <vt:lpstr>ENTITY AND ATTRIBUTES</vt:lpstr>
      <vt:lpstr>PowerPoint Presentation</vt:lpstr>
      <vt:lpstr>PowerPoint Presentation</vt:lpstr>
      <vt:lpstr>ER-DIAGRAM</vt:lpstr>
      <vt:lpstr>RELATIONAL DATABASE SCHEMA</vt:lpstr>
      <vt:lpstr>PRIMARY AND FORIGEN KEYS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navya sri</dc:creator>
  <cp:lastModifiedBy>25B11AID25</cp:lastModifiedBy>
  <cp:revision>11</cp:revision>
  <dcterms:created xsi:type="dcterms:W3CDTF">2026-09-28T17:35:36Z</dcterms:created>
  <dcterms:modified xsi:type="dcterms:W3CDTF">2026-10-02T12:56:29Z</dcterms:modified>
</cp:coreProperties>
</file>